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87" r:id="rId4"/>
  </p:sldMasterIdLst>
  <p:notesMasterIdLst>
    <p:notesMasterId r:id="rId11"/>
  </p:notesMasterIdLst>
  <p:sldIdLst>
    <p:sldId id="1864" r:id="rId5"/>
    <p:sldId id="1905" r:id="rId6"/>
    <p:sldId id="1907" r:id="rId7"/>
    <p:sldId id="1906" r:id="rId8"/>
    <p:sldId id="1899" r:id="rId9"/>
    <p:sldId id="1903" r:id="rId10"/>
  </p:sldIdLst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480" userDrawn="1">
          <p15:clr>
            <a:srgbClr val="A4A3A4"/>
          </p15:clr>
        </p15:guide>
        <p15:guide id="3" pos="7200" userDrawn="1">
          <p15:clr>
            <a:srgbClr val="A4A3A4"/>
          </p15:clr>
        </p15:guide>
        <p15:guide id="4" pos="43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578AF"/>
    <a:srgbClr val="0AB6F5"/>
    <a:srgbClr val="00D0A3"/>
    <a:srgbClr val="D1B613"/>
    <a:srgbClr val="C4C4C4"/>
    <a:srgbClr val="204ECF"/>
    <a:srgbClr val="204ECE"/>
    <a:srgbClr val="0AB5F4"/>
    <a:srgbClr val="E23042"/>
    <a:srgbClr val="E130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16DA210-FB5B-4158-B5E0-FEB733F419BA}" styleName="Estilo clar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ED083AE6-46FA-4A59-8FB0-9F97EB10719F}" styleName="Estilo claro 3 - Acento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8B1032C-EA38-4F05-BA0D-38AFFFC7BED3}" styleName="Estilo claro 3 - Acento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964" autoAdjust="0"/>
    <p:restoredTop sz="94724" autoAdjust="0"/>
  </p:normalViewPr>
  <p:slideViewPr>
    <p:cSldViewPr snapToGrid="0">
      <p:cViewPr varScale="1">
        <p:scale>
          <a:sx n="105" d="100"/>
          <a:sy n="105" d="100"/>
        </p:scale>
        <p:origin x="1008" y="96"/>
      </p:cViewPr>
      <p:guideLst>
        <p:guide orient="horz" pos="2160"/>
        <p:guide pos="480"/>
        <p:guide pos="7200"/>
        <p:guide pos="436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94" d="100"/>
        <a:sy n="94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>
            <a:extLst>
              <a:ext uri="{FF2B5EF4-FFF2-40B4-BE49-F238E27FC236}">
                <a16:creationId xmlns:a16="http://schemas.microsoft.com/office/drawing/2014/main" id="{D9F622F8-1824-4338-8C3C-5529D3BDEF4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0723" name="Rectangle 3">
            <a:extLst>
              <a:ext uri="{FF2B5EF4-FFF2-40B4-BE49-F238E27FC236}">
                <a16:creationId xmlns:a16="http://schemas.microsoft.com/office/drawing/2014/main" id="{618DDD53-BB38-4118-BC75-9CE27D49C550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4340" name="Rectangle 4">
            <a:extLst>
              <a:ext uri="{FF2B5EF4-FFF2-40B4-BE49-F238E27FC236}">
                <a16:creationId xmlns:a16="http://schemas.microsoft.com/office/drawing/2014/main" id="{6C03B6F7-B1AE-4118-ABA2-FFEC9B8F0E9C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25" name="Rectangle 5">
            <a:extLst>
              <a:ext uri="{FF2B5EF4-FFF2-40B4-BE49-F238E27FC236}">
                <a16:creationId xmlns:a16="http://schemas.microsoft.com/office/drawing/2014/main" id="{646F5356-BDE8-43C1-9587-85323D02B191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26" name="Rectangle 6">
            <a:extLst>
              <a:ext uri="{FF2B5EF4-FFF2-40B4-BE49-F238E27FC236}">
                <a16:creationId xmlns:a16="http://schemas.microsoft.com/office/drawing/2014/main" id="{89912C35-11A9-4DA7-8476-F1823F658CA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0727" name="Rectangle 7">
            <a:extLst>
              <a:ext uri="{FF2B5EF4-FFF2-40B4-BE49-F238E27FC236}">
                <a16:creationId xmlns:a16="http://schemas.microsoft.com/office/drawing/2014/main" id="{7180ED79-CEC3-4FB9-B511-8597B20A0C1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6DEB7EE2-04A2-4FB2-9625-C9C73AC4D32F}" type="slidenum">
              <a:rPr lang="en-US" altLang="en-US"/>
              <a:pPr/>
              <a:t>‹Nº›</a:t>
            </a:fld>
            <a:endParaRPr lang="en-US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7">
            <a:extLst>
              <a:ext uri="{FF2B5EF4-FFF2-40B4-BE49-F238E27FC236}">
                <a16:creationId xmlns:a16="http://schemas.microsoft.com/office/drawing/2014/main" id="{FA4671F7-4D2C-4B1E-AED7-24676BE8B49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947842D7-C728-4EBD-982B-B8BE79E4DBBE}" type="slidenum">
              <a:rPr lang="en-US" altLang="en-US"/>
              <a:pPr eaLnBrk="1" hangingPunct="1"/>
              <a:t>1</a:t>
            </a:fld>
            <a:endParaRPr lang="en-US" altLang="en-US" dirty="0"/>
          </a:p>
        </p:txBody>
      </p:sp>
      <p:sp>
        <p:nvSpPr>
          <p:cNvPr id="15363" name="Rectangle 2">
            <a:extLst>
              <a:ext uri="{FF2B5EF4-FFF2-40B4-BE49-F238E27FC236}">
                <a16:creationId xmlns:a16="http://schemas.microsoft.com/office/drawing/2014/main" id="{D8E83BD0-7AE4-4323-9047-FC368929C52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64" name="Rectangle 3">
            <a:extLst>
              <a:ext uri="{FF2B5EF4-FFF2-40B4-BE49-F238E27FC236}">
                <a16:creationId xmlns:a16="http://schemas.microsoft.com/office/drawing/2014/main" id="{FDECF5EC-C5EC-4723-8F4F-A75A20018F6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08148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8CF5191-0569-4DC4-91C0-32BE2B3AB9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1"/>
            <a:ext cx="12191998" cy="685799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E7964CB-E75A-4A03-88D3-6A48EF650A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42012" y="2766219"/>
            <a:ext cx="6220101" cy="1325563"/>
          </a:xfrm>
          <a:prstGeom prst="rect">
            <a:avLst/>
          </a:prstGeom>
        </p:spPr>
        <p:txBody>
          <a:bodyPr anchor="ctr"/>
          <a:lstStyle>
            <a:lvl1pPr>
              <a:defRPr b="1"/>
            </a:lvl1pPr>
          </a:lstStyle>
          <a:p>
            <a:r>
              <a:rPr lang="en-US" dirty="0"/>
              <a:t>Insert title here</a:t>
            </a:r>
          </a:p>
        </p:txBody>
      </p:sp>
    </p:spTree>
    <p:extLst>
      <p:ext uri="{BB962C8B-B14F-4D97-AF65-F5344CB8AC3E}">
        <p14:creationId xmlns:p14="http://schemas.microsoft.com/office/powerpoint/2010/main" val="14406792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Patter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F87E8F-5716-4A71-B64F-EC5A742B45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1"/>
            <a:ext cx="6477000" cy="1189038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spcBef>
                <a:spcPts val="1000"/>
              </a:spcBef>
              <a:defRPr sz="4000" b="1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E8DBED36-2461-46D0-AF71-79E0064B37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6340929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bg1"/>
                </a:solidFill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defRPr sz="18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  <p:pic>
        <p:nvPicPr>
          <p:cNvPr id="6" name="Picture Placeholder 5" descr="Red, blue grey white pattern background">
            <a:extLst>
              <a:ext uri="{FF2B5EF4-FFF2-40B4-BE49-F238E27FC236}">
                <a16:creationId xmlns:a16="http://schemas.microsoft.com/office/drawing/2014/main" id="{8FD53BA4-73D2-4CCA-8580-11F4221524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27166" y="0"/>
            <a:ext cx="476483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72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2240" userDrawn="1">
          <p15:clr>
            <a:srgbClr val="5ACBF0"/>
          </p15:clr>
        </p15:guide>
        <p15:guide id="4" orient="horz" pos="2487" userDrawn="1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view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6" descr="White Striped background">
            <a:extLst>
              <a:ext uri="{FF2B5EF4-FFF2-40B4-BE49-F238E27FC236}">
                <a16:creationId xmlns:a16="http://schemas.microsoft.com/office/drawing/2014/main" id="{3917D528-010E-4303-97BF-F7F67BC6612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3D9303A2-B30A-054C-B809-053B909E12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1995467"/>
            <a:ext cx="9141397" cy="615553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1" i="0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10F58DD1-3970-D84D-8040-EF33B0971D5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3260705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32408829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2243" userDrawn="1">
          <p15:clr>
            <a:srgbClr val="5ACBF0"/>
          </p15:clr>
        </p15:guide>
        <p15:guide id="4" orient="horz" pos="2488" userDrawn="1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13624-9AD4-4B61-B3D1-7B21213507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3983" y="310718"/>
            <a:ext cx="11496583" cy="523783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Bef>
                <a:spcPts val="1000"/>
              </a:spcBef>
              <a:defRPr sz="3200" b="1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10" name="Text Placeholder 15">
            <a:extLst>
              <a:ext uri="{FF2B5EF4-FFF2-40B4-BE49-F238E27FC236}">
                <a16:creationId xmlns:a16="http://schemas.microsoft.com/office/drawing/2014/main" id="{780F473D-F2DF-4163-AB6E-F7327F60EC4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3984" y="958788"/>
            <a:ext cx="11496583" cy="48116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defRPr sz="1800" b="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  <p:pic>
        <p:nvPicPr>
          <p:cNvPr id="7" name="Picture Placeholder 5" descr="Red, blue grey white pattern background">
            <a:extLst>
              <a:ext uri="{FF2B5EF4-FFF2-40B4-BE49-F238E27FC236}">
                <a16:creationId xmlns:a16="http://schemas.microsoft.com/office/drawing/2014/main" id="{CD2D4C14-919B-45F8-8FB9-55AAC8A8FCF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990252"/>
            <a:ext cx="12192000" cy="867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9174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Patter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668F4E-0433-49FD-9D92-3B60E9B0AE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99742" y="715961"/>
            <a:ext cx="6477000" cy="1189037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 spc="-5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E8DBED36-2461-46D0-AF71-79E0064B37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99743" y="1905000"/>
            <a:ext cx="6477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bg1"/>
                </a:solidFill>
              </a:defRPr>
            </a:lvl1pPr>
            <a:lvl2pPr marL="228600" indent="-228600">
              <a:lnSpc>
                <a:spcPct val="100000"/>
              </a:lnSpc>
              <a:spcBef>
                <a:spcPts val="1000"/>
              </a:spcBef>
              <a:defRPr sz="18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  <p:pic>
        <p:nvPicPr>
          <p:cNvPr id="6" name="Picture Placeholder 6" descr="Red, blue grey white pattern background">
            <a:extLst>
              <a:ext uri="{FF2B5EF4-FFF2-40B4-BE49-F238E27FC236}">
                <a16:creationId xmlns:a16="http://schemas.microsoft.com/office/drawing/2014/main" id="{3A82D859-AED3-485F-A04E-40320B1043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476794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98761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08" userDrawn="1">
          <p15:clr>
            <a:srgbClr val="5ACBF0"/>
          </p15:clr>
        </p15:guide>
        <p15:guide id="3" orient="horz" pos="2240" userDrawn="1">
          <p15:clr>
            <a:srgbClr val="5ACBF0"/>
          </p15:clr>
        </p15:guide>
        <p15:guide id="4" orient="horz" pos="2487" userDrawn="1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13624-9AD4-4B61-B3D1-7B21213507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739" y="351980"/>
            <a:ext cx="11452193" cy="646332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Bef>
                <a:spcPts val="1000"/>
              </a:spcBef>
              <a:defRPr sz="3200" b="1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DF03C311-DDF4-44A3-9D51-D5FDC4A8E7B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1740" y="1162976"/>
            <a:ext cx="11452194" cy="462526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defRPr sz="1800" b="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  <p:pic>
        <p:nvPicPr>
          <p:cNvPr id="9" name="Picture Placeholder 8" descr="Red, blue grey white pattern background">
            <a:extLst>
              <a:ext uri="{FF2B5EF4-FFF2-40B4-BE49-F238E27FC236}">
                <a16:creationId xmlns:a16="http://schemas.microsoft.com/office/drawing/2014/main" id="{EFDBB6A3-9760-4B41-9E31-6D5DD396E16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999582"/>
            <a:ext cx="12192000" cy="858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4626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hot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2">
            <a:extLst>
              <a:ext uri="{FF2B5EF4-FFF2-40B4-BE49-F238E27FC236}">
                <a16:creationId xmlns:a16="http://schemas.microsoft.com/office/drawing/2014/main" id="{3F45076F-4240-4B40-8CE4-637DD751A6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8498B63D-F60C-4A9D-8D3E-0C7CD748FED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800" b="1"/>
            </a:lvl1pPr>
            <a:lvl2pPr marL="228600">
              <a:lnSpc>
                <a:spcPct val="100000"/>
              </a:lnSpc>
              <a:spcBef>
                <a:spcPts val="1000"/>
              </a:spcBef>
              <a:defRPr sz="1800"/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827A95C0-AE8D-46E1-9EF9-64504CBEF99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58000" y="715963"/>
            <a:ext cx="4572000" cy="2362200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89E410BA-B0FE-4F0E-8BE5-D33CC016635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858000" y="3305541"/>
            <a:ext cx="4572000" cy="2362200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pic>
        <p:nvPicPr>
          <p:cNvPr id="11" name="Picture Placeholder 5" descr="Red, blue grey white pattern background">
            <a:extLst>
              <a:ext uri="{FF2B5EF4-FFF2-40B4-BE49-F238E27FC236}">
                <a16:creationId xmlns:a16="http://schemas.microsoft.com/office/drawing/2014/main" id="{1014381E-E235-4624-9267-69EEEE9826F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980922"/>
            <a:ext cx="12192000" cy="877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66801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72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Pattern Content Gra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F87E8F-5716-4A71-B64F-EC5A742B45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1"/>
            <a:ext cx="6477000" cy="1189038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spcBef>
                <a:spcPts val="1000"/>
              </a:spcBef>
              <a:defRPr sz="4000" b="1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E8DBED36-2461-46D0-AF71-79E0064B37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6477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bg1"/>
                </a:solidFill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defRPr sz="18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  <p:pic>
        <p:nvPicPr>
          <p:cNvPr id="5" name="Picture Placeholder 6" descr="Red, blue grey white pattern background">
            <a:extLst>
              <a:ext uri="{FF2B5EF4-FFF2-40B4-BE49-F238E27FC236}">
                <a16:creationId xmlns:a16="http://schemas.microsoft.com/office/drawing/2014/main" id="{6696C96D-182E-490E-A117-B60FF185367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27166" y="0"/>
            <a:ext cx="476483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4284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2240" userDrawn="1">
          <p15:clr>
            <a:srgbClr val="5ACBF0"/>
          </p15:clr>
        </p15:guide>
        <p15:guide id="4" orient="horz" pos="2487" userDrawn="1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6" descr="Picture placeholder ">
            <a:extLst>
              <a:ext uri="{FF2B5EF4-FFF2-40B4-BE49-F238E27FC236}">
                <a16:creationId xmlns:a16="http://schemas.microsoft.com/office/drawing/2014/main" id="{21F9B252-B7D4-4DA8-92E8-8A98BFEF41B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3D9303A2-B30A-054C-B809-053B909E12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1995467"/>
            <a:ext cx="9141397" cy="615553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1" i="0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10F58DD1-3970-D84D-8040-EF33B0971D5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3260705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4100711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2243" userDrawn="1">
          <p15:clr>
            <a:srgbClr val="5ACBF0"/>
          </p15:clr>
        </p15:guide>
        <p15:guide id="4" orient="horz" pos="2488" userDrawn="1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7724906-4405-47F4-B533-7291B003B0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1995467"/>
            <a:ext cx="9141397" cy="615553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1" i="0" kern="1200" cap="none" spc="-50" baseline="0" dirty="0">
                <a:ln w="3175">
                  <a:noFill/>
                </a:ln>
                <a:solidFill>
                  <a:schemeClr val="accent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1EEF53A4-35A6-4E43-B220-67DA381C591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3260705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18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  <p:pic>
        <p:nvPicPr>
          <p:cNvPr id="6" name="Picture Placeholder 5" descr="Red, blue grey white pattern background">
            <a:extLst>
              <a:ext uri="{FF2B5EF4-FFF2-40B4-BE49-F238E27FC236}">
                <a16:creationId xmlns:a16="http://schemas.microsoft.com/office/drawing/2014/main" id="{906BF34F-6945-4E11-BAEC-F66F7254C4C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999582"/>
            <a:ext cx="12192000" cy="858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5231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Pattern Content Blu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668F4E-0433-49FD-9D92-3B60E9B0AE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99742" y="715961"/>
            <a:ext cx="6477000" cy="1189037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 spc="-50" baseline="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E8DBED36-2461-46D0-AF71-79E0064B37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99743" y="1905000"/>
            <a:ext cx="6477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bg1"/>
                </a:solidFill>
              </a:defRPr>
            </a:lvl1pPr>
            <a:lvl2pPr marL="228600" indent="-228600">
              <a:lnSpc>
                <a:spcPct val="100000"/>
              </a:lnSpc>
              <a:spcBef>
                <a:spcPts val="1000"/>
              </a:spcBef>
              <a:defRPr sz="18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  <p:pic>
        <p:nvPicPr>
          <p:cNvPr id="5" name="Picture Placeholder 6" descr="Red, blue grey white pattern background">
            <a:extLst>
              <a:ext uri="{FF2B5EF4-FFF2-40B4-BE49-F238E27FC236}">
                <a16:creationId xmlns:a16="http://schemas.microsoft.com/office/drawing/2014/main" id="{BC85C715-EF0D-4E33-AC89-C35DD2596E5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476794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3759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08" userDrawn="1">
          <p15:clr>
            <a:srgbClr val="5ACBF0"/>
          </p15:clr>
        </p15:guide>
        <p15:guide id="3" orient="horz" pos="2240" userDrawn="1">
          <p15:clr>
            <a:srgbClr val="5ACBF0"/>
          </p15:clr>
        </p15:guide>
        <p15:guide id="4" orient="horz" pos="2487" userDrawn="1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969044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9" r:id="rId1"/>
    <p:sldLayoutId id="2147483699" r:id="rId2"/>
    <p:sldLayoutId id="2147483700" r:id="rId3"/>
    <p:sldLayoutId id="2147483691" r:id="rId4"/>
    <p:sldLayoutId id="2147483701" r:id="rId5"/>
    <p:sldLayoutId id="2147483706" r:id="rId6"/>
    <p:sldLayoutId id="2147483702" r:id="rId7"/>
    <p:sldLayoutId id="2147483704" r:id="rId8"/>
    <p:sldLayoutId id="2147483703" r:id="rId9"/>
    <p:sldLayoutId id="2147483690" r:id="rId10"/>
    <p:sldLayoutId id="214748370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ED2DB031-9003-4F74-A88F-FE2A2ABABC7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442012" y="2766219"/>
            <a:ext cx="6220101" cy="1325563"/>
          </a:xfrm>
        </p:spPr>
        <p:txBody>
          <a:bodyPr anchor="ctr">
            <a:noAutofit/>
          </a:bodyPr>
          <a:lstStyle/>
          <a:p>
            <a:r>
              <a:rPr lang="es-PE" altLang="en-US" sz="2800" dirty="0"/>
              <a:t>Sistema de Honorarios Médicos</a:t>
            </a:r>
            <a:br>
              <a:rPr lang="es-PE" altLang="en-US" sz="2800" dirty="0"/>
            </a:br>
            <a:r>
              <a:rPr lang="es-PE" altLang="en-US" sz="2800" dirty="0"/>
              <a:t>Integraciones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3F15BFF3-36E1-4483-B185-1E7DD12F5691}"/>
              </a:ext>
            </a:extLst>
          </p:cNvPr>
          <p:cNvSpPr txBox="1"/>
          <p:nvPr/>
        </p:nvSpPr>
        <p:spPr>
          <a:xfrm>
            <a:off x="6877620" y="4181436"/>
            <a:ext cx="34419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3600" b="1" dirty="0">
                <a:solidFill>
                  <a:schemeClr val="bg1"/>
                </a:solidFill>
              </a:rPr>
              <a:t>Marcha Blanca</a:t>
            </a:r>
          </a:p>
        </p:txBody>
      </p:sp>
      <p:pic>
        <p:nvPicPr>
          <p:cNvPr id="7" name="Imagen 4">
            <a:extLst>
              <a:ext uri="{FF2B5EF4-FFF2-40B4-BE49-F238E27FC236}">
                <a16:creationId xmlns:a16="http://schemas.microsoft.com/office/drawing/2014/main" id="{6E491026-4823-6119-500C-F1C3F0461A3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6507" y="1351690"/>
            <a:ext cx="2731110" cy="89561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74D0AA59-DD85-5FAC-8585-EC85A6324A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8405" y="5771184"/>
            <a:ext cx="2553708" cy="792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2652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39FC59-C7B9-3F1E-4951-0B5EF49F9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Proceso</a:t>
            </a:r>
            <a:endParaRPr lang="es-PE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195BE1E-48F5-711B-6ED1-0BADC4D693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668" y="879440"/>
            <a:ext cx="11624333" cy="5749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95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08E860-3FEF-69DF-1579-6F9519AE8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Marcha Blanca</a:t>
            </a:r>
            <a:endParaRPr lang="es-PE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231DDA97-62CD-7DEE-D75A-81C4F163AF86}"/>
              </a:ext>
            </a:extLst>
          </p:cNvPr>
          <p:cNvSpPr/>
          <p:nvPr/>
        </p:nvSpPr>
        <p:spPr>
          <a:xfrm>
            <a:off x="1417320" y="1965960"/>
            <a:ext cx="3717684" cy="91440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2400" b="1" dirty="0"/>
              <a:t>Fase 1</a:t>
            </a:r>
            <a:endParaRPr lang="es-PE" sz="2400" b="1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82E6533A-5D0C-89D4-84A5-6701318A4FC1}"/>
              </a:ext>
            </a:extLst>
          </p:cNvPr>
          <p:cNvSpPr/>
          <p:nvPr/>
        </p:nvSpPr>
        <p:spPr>
          <a:xfrm>
            <a:off x="6900672" y="1965960"/>
            <a:ext cx="3717684" cy="91440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2400" b="1" dirty="0"/>
              <a:t>Fase 2</a:t>
            </a:r>
            <a:endParaRPr lang="es-PE" sz="2400" b="1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BFE55F7-59A6-7928-6FA1-9AC416364581}"/>
              </a:ext>
            </a:extLst>
          </p:cNvPr>
          <p:cNvSpPr txBox="1"/>
          <p:nvPr/>
        </p:nvSpPr>
        <p:spPr>
          <a:xfrm>
            <a:off x="1335024" y="3147259"/>
            <a:ext cx="491031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bg1"/>
                </a:solidFill>
              </a:rPr>
              <a:t>Envío de Producciones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bg1"/>
                </a:solidFill>
              </a:rPr>
              <a:t>Solicitud de Factura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bg1"/>
                </a:solidFill>
              </a:rPr>
              <a:t>Envió de Facturas por la Compañía Médica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bg1"/>
                </a:solidFill>
              </a:rPr>
              <a:t>Registro de Facturas en HHMM</a:t>
            </a:r>
            <a:endParaRPr lang="es-PE" dirty="0">
              <a:solidFill>
                <a:schemeClr val="bg1"/>
              </a:solidFill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8313560A-DEA9-922E-7825-5F5319EA1D5F}"/>
              </a:ext>
            </a:extLst>
          </p:cNvPr>
          <p:cNvSpPr txBox="1"/>
          <p:nvPr/>
        </p:nvSpPr>
        <p:spPr>
          <a:xfrm>
            <a:off x="6900672" y="3147258"/>
            <a:ext cx="371768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bg1"/>
                </a:solidFill>
              </a:rPr>
              <a:t>Envío de Liquidaciones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bg1"/>
                </a:solidFill>
              </a:rPr>
              <a:t>Generación de Orden de Pago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bg1"/>
                </a:solidFill>
              </a:rPr>
              <a:t>Aprobación de Orden de Pago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PE" dirty="0">
                <a:solidFill>
                  <a:schemeClr val="bg1"/>
                </a:solidFill>
              </a:rPr>
              <a:t>Actualizar estado de Pago</a:t>
            </a:r>
          </a:p>
        </p:txBody>
      </p:sp>
      <p:cxnSp>
        <p:nvCxnSpPr>
          <p:cNvPr id="10" name="Conector recto de flecha 9">
            <a:extLst>
              <a:ext uri="{FF2B5EF4-FFF2-40B4-BE49-F238E27FC236}">
                <a16:creationId xmlns:a16="http://schemas.microsoft.com/office/drawing/2014/main" id="{06145B5D-A7B7-76E4-9D53-9D2B55A872E4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5135004" y="2423160"/>
            <a:ext cx="17656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07090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2A0AFB-88DF-2027-1AEC-5CF17FC2B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Fase 1</a:t>
            </a:r>
            <a:endParaRPr lang="es-PE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399BAC4-35A9-3C5E-735F-23B65C0835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739" y="887194"/>
            <a:ext cx="10993397" cy="5878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7312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ángulo 57">
            <a:extLst>
              <a:ext uri="{FF2B5EF4-FFF2-40B4-BE49-F238E27FC236}">
                <a16:creationId xmlns:a16="http://schemas.microsoft.com/office/drawing/2014/main" id="{43B13A40-A431-0F49-6529-81F3255A6FD7}"/>
              </a:ext>
            </a:extLst>
          </p:cNvPr>
          <p:cNvSpPr/>
          <p:nvPr/>
        </p:nvSpPr>
        <p:spPr>
          <a:xfrm>
            <a:off x="4025660" y="2457486"/>
            <a:ext cx="4140680" cy="638355"/>
          </a:xfrm>
          <a:prstGeom prst="rect">
            <a:avLst/>
          </a:prstGeom>
          <a:solidFill>
            <a:srgbClr val="7030A0"/>
          </a:solidFill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600" dirty="0">
                <a:solidFill>
                  <a:schemeClr val="bg1"/>
                </a:solidFill>
              </a:rPr>
              <a:t>HHMM</a:t>
            </a:r>
            <a:endParaRPr lang="es-PE" sz="1600" dirty="0">
              <a:solidFill>
                <a:schemeClr val="bg1"/>
              </a:solidFill>
            </a:endParaRPr>
          </a:p>
        </p:txBody>
      </p:sp>
      <p:sp>
        <p:nvSpPr>
          <p:cNvPr id="59" name="Rectángulo 58">
            <a:extLst>
              <a:ext uri="{FF2B5EF4-FFF2-40B4-BE49-F238E27FC236}">
                <a16:creationId xmlns:a16="http://schemas.microsoft.com/office/drawing/2014/main" id="{31623742-4151-6EC1-CD7F-7887FE220560}"/>
              </a:ext>
            </a:extLst>
          </p:cNvPr>
          <p:cNvSpPr/>
          <p:nvPr/>
        </p:nvSpPr>
        <p:spPr>
          <a:xfrm>
            <a:off x="1361248" y="4849941"/>
            <a:ext cx="4107371" cy="73866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>
              <a:solidFill>
                <a:schemeClr val="bg1"/>
              </a:solidFill>
            </a:endParaRPr>
          </a:p>
        </p:txBody>
      </p:sp>
      <p:sp>
        <p:nvSpPr>
          <p:cNvPr id="60" name="Elipse 59">
            <a:extLst>
              <a:ext uri="{FF2B5EF4-FFF2-40B4-BE49-F238E27FC236}">
                <a16:creationId xmlns:a16="http://schemas.microsoft.com/office/drawing/2014/main" id="{AEE6E65D-B76A-8872-DFE0-0994B6BF61C2}"/>
              </a:ext>
            </a:extLst>
          </p:cNvPr>
          <p:cNvSpPr/>
          <p:nvPr/>
        </p:nvSpPr>
        <p:spPr>
          <a:xfrm>
            <a:off x="2796875" y="3512355"/>
            <a:ext cx="629728" cy="603848"/>
          </a:xfrm>
          <a:prstGeom prst="ellips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solidFill>
                  <a:schemeClr val="bg1"/>
                </a:solidFill>
              </a:rPr>
              <a:t>API</a:t>
            </a:r>
          </a:p>
          <a:p>
            <a:pPr algn="ctr"/>
            <a:r>
              <a:rPr lang="es-ES" sz="1400" dirty="0">
                <a:solidFill>
                  <a:schemeClr val="bg1"/>
                </a:solidFill>
              </a:rPr>
              <a:t>(1)</a:t>
            </a:r>
            <a:endParaRPr lang="es-PE" sz="1400" dirty="0">
              <a:solidFill>
                <a:schemeClr val="bg1"/>
              </a:solidFill>
            </a:endParaRPr>
          </a:p>
        </p:txBody>
      </p:sp>
      <p:cxnSp>
        <p:nvCxnSpPr>
          <p:cNvPr id="61" name="Conector: angular 60">
            <a:extLst>
              <a:ext uri="{FF2B5EF4-FFF2-40B4-BE49-F238E27FC236}">
                <a16:creationId xmlns:a16="http://schemas.microsoft.com/office/drawing/2014/main" id="{3A62AD01-4264-B1BB-9D0F-A95759B03C73}"/>
              </a:ext>
            </a:extLst>
          </p:cNvPr>
          <p:cNvCxnSpPr>
            <a:cxnSpLocks/>
            <a:endCxn id="60" idx="0"/>
          </p:cNvCxnSpPr>
          <p:nvPr/>
        </p:nvCxnSpPr>
        <p:spPr>
          <a:xfrm rot="10800000" flipV="1">
            <a:off x="3111740" y="2847817"/>
            <a:ext cx="904845" cy="664538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ector: angular 61">
            <a:extLst>
              <a:ext uri="{FF2B5EF4-FFF2-40B4-BE49-F238E27FC236}">
                <a16:creationId xmlns:a16="http://schemas.microsoft.com/office/drawing/2014/main" id="{0D362691-AB4E-FC84-E1F8-787486FAA8FF}"/>
              </a:ext>
            </a:extLst>
          </p:cNvPr>
          <p:cNvCxnSpPr>
            <a:cxnSpLocks/>
            <a:stCxn id="60" idx="4"/>
            <a:endCxn id="59" idx="0"/>
          </p:cNvCxnSpPr>
          <p:nvPr/>
        </p:nvCxnSpPr>
        <p:spPr>
          <a:xfrm rot="16200000" flipH="1">
            <a:off x="2896467" y="4331474"/>
            <a:ext cx="733738" cy="303195"/>
          </a:xfrm>
          <a:prstGeom prst="bentConnector3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CuadroTexto 62">
            <a:extLst>
              <a:ext uri="{FF2B5EF4-FFF2-40B4-BE49-F238E27FC236}">
                <a16:creationId xmlns:a16="http://schemas.microsoft.com/office/drawing/2014/main" id="{F45DECCA-8854-85C6-D500-9C24B005EA44}"/>
              </a:ext>
            </a:extLst>
          </p:cNvPr>
          <p:cNvSpPr txBox="1"/>
          <p:nvPr/>
        </p:nvSpPr>
        <p:spPr>
          <a:xfrm>
            <a:off x="3470162" y="3479157"/>
            <a:ext cx="1293018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1100" dirty="0">
                <a:solidFill>
                  <a:schemeClr val="bg1"/>
                </a:solidFill>
              </a:rPr>
              <a:t>1) Envío de datos de Producción (Lista)</a:t>
            </a:r>
          </a:p>
        </p:txBody>
      </p:sp>
      <p:sp>
        <p:nvSpPr>
          <p:cNvPr id="64" name="Elipse 63">
            <a:extLst>
              <a:ext uri="{FF2B5EF4-FFF2-40B4-BE49-F238E27FC236}">
                <a16:creationId xmlns:a16="http://schemas.microsoft.com/office/drawing/2014/main" id="{610732F1-A78E-8C97-298E-68057C1D9D6C}"/>
              </a:ext>
            </a:extLst>
          </p:cNvPr>
          <p:cNvSpPr/>
          <p:nvPr/>
        </p:nvSpPr>
        <p:spPr>
          <a:xfrm>
            <a:off x="5579575" y="3962038"/>
            <a:ext cx="629728" cy="603848"/>
          </a:xfrm>
          <a:prstGeom prst="ellipse">
            <a:avLst/>
          </a:prstGeom>
          <a:solidFill>
            <a:srgbClr val="7030A0"/>
          </a:solidFill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solidFill>
                  <a:schemeClr val="tx1"/>
                </a:solidFill>
              </a:rPr>
              <a:t>API</a:t>
            </a:r>
          </a:p>
          <a:p>
            <a:pPr algn="ctr"/>
            <a:r>
              <a:rPr lang="es-ES" sz="1400" dirty="0">
                <a:solidFill>
                  <a:schemeClr val="tx1"/>
                </a:solidFill>
              </a:rPr>
              <a:t>(3)</a:t>
            </a:r>
            <a:endParaRPr lang="es-PE" sz="1400" dirty="0">
              <a:solidFill>
                <a:schemeClr val="tx1"/>
              </a:solidFill>
            </a:endParaRPr>
          </a:p>
        </p:txBody>
      </p:sp>
      <p:cxnSp>
        <p:nvCxnSpPr>
          <p:cNvPr id="65" name="Conector: angular 64">
            <a:extLst>
              <a:ext uri="{FF2B5EF4-FFF2-40B4-BE49-F238E27FC236}">
                <a16:creationId xmlns:a16="http://schemas.microsoft.com/office/drawing/2014/main" id="{2DE5E597-16B9-BF22-C73F-481E06FC1A15}"/>
              </a:ext>
            </a:extLst>
          </p:cNvPr>
          <p:cNvCxnSpPr>
            <a:cxnSpLocks/>
            <a:stCxn id="64" idx="0"/>
            <a:endCxn id="94" idx="2"/>
          </p:cNvCxnSpPr>
          <p:nvPr/>
        </p:nvCxnSpPr>
        <p:spPr>
          <a:xfrm rot="5400000" flipH="1" flipV="1">
            <a:off x="5554820" y="3294553"/>
            <a:ext cx="1007104" cy="327867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ector: angular 65">
            <a:extLst>
              <a:ext uri="{FF2B5EF4-FFF2-40B4-BE49-F238E27FC236}">
                <a16:creationId xmlns:a16="http://schemas.microsoft.com/office/drawing/2014/main" id="{FAE5C2F9-F92F-85F6-0AD2-EC58CBD45E5E}"/>
              </a:ext>
            </a:extLst>
          </p:cNvPr>
          <p:cNvCxnSpPr>
            <a:cxnSpLocks/>
            <a:stCxn id="59" idx="3"/>
            <a:endCxn id="64" idx="4"/>
          </p:cNvCxnSpPr>
          <p:nvPr/>
        </p:nvCxnSpPr>
        <p:spPr>
          <a:xfrm flipV="1">
            <a:off x="5468619" y="4565886"/>
            <a:ext cx="425820" cy="653387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CuadroTexto 66">
            <a:extLst>
              <a:ext uri="{FF2B5EF4-FFF2-40B4-BE49-F238E27FC236}">
                <a16:creationId xmlns:a16="http://schemas.microsoft.com/office/drawing/2014/main" id="{A24BB243-087F-7C1E-2AF5-E5A75ADA37EB}"/>
              </a:ext>
            </a:extLst>
          </p:cNvPr>
          <p:cNvSpPr txBox="1"/>
          <p:nvPr/>
        </p:nvSpPr>
        <p:spPr>
          <a:xfrm>
            <a:off x="6323601" y="3899749"/>
            <a:ext cx="962569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s-PE"/>
            </a:defPPr>
            <a:lvl1pPr>
              <a:defRPr sz="1100"/>
            </a:lvl1pPr>
          </a:lstStyle>
          <a:p>
            <a:r>
              <a:rPr lang="es-PE" dirty="0">
                <a:solidFill>
                  <a:schemeClr val="bg1"/>
                </a:solidFill>
              </a:rPr>
              <a:t>3) Envío de Facturas</a:t>
            </a:r>
          </a:p>
          <a:p>
            <a:r>
              <a:rPr lang="es-PE" dirty="0">
                <a:solidFill>
                  <a:schemeClr val="bg1"/>
                </a:solidFill>
              </a:rPr>
              <a:t>(Lista)</a:t>
            </a:r>
          </a:p>
        </p:txBody>
      </p:sp>
      <p:sp>
        <p:nvSpPr>
          <p:cNvPr id="70" name="CuadroTexto 69">
            <a:extLst>
              <a:ext uri="{FF2B5EF4-FFF2-40B4-BE49-F238E27FC236}">
                <a16:creationId xmlns:a16="http://schemas.microsoft.com/office/drawing/2014/main" id="{DB91F166-1B12-0161-4277-8E6538F95435}"/>
              </a:ext>
            </a:extLst>
          </p:cNvPr>
          <p:cNvSpPr txBox="1"/>
          <p:nvPr/>
        </p:nvSpPr>
        <p:spPr>
          <a:xfrm>
            <a:off x="6896726" y="884136"/>
            <a:ext cx="1995577" cy="461665"/>
          </a:xfrm>
          <a:prstGeom prst="rect">
            <a:avLst/>
          </a:prstGeom>
          <a:solidFill>
            <a:srgbClr val="0AB6F5"/>
          </a:solidFill>
          <a:ln>
            <a:solidFill>
              <a:srgbClr val="0AB6F5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ES" sz="1200" dirty="0">
                <a:solidFill>
                  <a:schemeClr val="bg1"/>
                </a:solidFill>
              </a:rPr>
              <a:t>Registro de Facturas en SAP</a:t>
            </a:r>
            <a:endParaRPr lang="es-PE" sz="1200" dirty="0">
              <a:solidFill>
                <a:schemeClr val="bg1"/>
              </a:solidFill>
            </a:endParaRPr>
          </a:p>
        </p:txBody>
      </p:sp>
      <p:cxnSp>
        <p:nvCxnSpPr>
          <p:cNvPr id="71" name="Conector: angular 70">
            <a:extLst>
              <a:ext uri="{FF2B5EF4-FFF2-40B4-BE49-F238E27FC236}">
                <a16:creationId xmlns:a16="http://schemas.microsoft.com/office/drawing/2014/main" id="{7D0C3193-14DC-32E6-B4FF-AE9FA821D640}"/>
              </a:ext>
            </a:extLst>
          </p:cNvPr>
          <p:cNvCxnSpPr>
            <a:cxnSpLocks/>
            <a:stCxn id="58" idx="0"/>
            <a:endCxn id="70" idx="2"/>
          </p:cNvCxnSpPr>
          <p:nvPr/>
        </p:nvCxnSpPr>
        <p:spPr>
          <a:xfrm rot="5400000" flipH="1" flipV="1">
            <a:off x="6439415" y="1002387"/>
            <a:ext cx="1111685" cy="1798515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ángulo 72">
            <a:extLst>
              <a:ext uri="{FF2B5EF4-FFF2-40B4-BE49-F238E27FC236}">
                <a16:creationId xmlns:a16="http://schemas.microsoft.com/office/drawing/2014/main" id="{48B3CA84-CA14-4565-418F-13A63421FB08}"/>
              </a:ext>
            </a:extLst>
          </p:cNvPr>
          <p:cNvSpPr/>
          <p:nvPr/>
        </p:nvSpPr>
        <p:spPr>
          <a:xfrm>
            <a:off x="4172308" y="2583999"/>
            <a:ext cx="1289650" cy="370935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1400" dirty="0">
                <a:solidFill>
                  <a:schemeClr val="bg1"/>
                </a:solidFill>
              </a:rPr>
              <a:t>Producción</a:t>
            </a:r>
            <a:endParaRPr lang="es-PE" sz="1400" dirty="0">
              <a:solidFill>
                <a:schemeClr val="bg1"/>
              </a:solidFill>
            </a:endParaRPr>
          </a:p>
        </p:txBody>
      </p:sp>
      <p:cxnSp>
        <p:nvCxnSpPr>
          <p:cNvPr id="76" name="Conector recto de flecha 75">
            <a:extLst>
              <a:ext uri="{FF2B5EF4-FFF2-40B4-BE49-F238E27FC236}">
                <a16:creationId xmlns:a16="http://schemas.microsoft.com/office/drawing/2014/main" id="{765F99B9-5A33-CAF5-0F69-D0E32F3CD597}"/>
              </a:ext>
            </a:extLst>
          </p:cNvPr>
          <p:cNvCxnSpPr>
            <a:cxnSpLocks/>
            <a:stCxn id="70" idx="3"/>
            <a:endCxn id="77" idx="1"/>
          </p:cNvCxnSpPr>
          <p:nvPr/>
        </p:nvCxnSpPr>
        <p:spPr>
          <a:xfrm flipV="1">
            <a:off x="8892303" y="1113567"/>
            <a:ext cx="814582" cy="14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CuadroTexto 76">
            <a:extLst>
              <a:ext uri="{FF2B5EF4-FFF2-40B4-BE49-F238E27FC236}">
                <a16:creationId xmlns:a16="http://schemas.microsoft.com/office/drawing/2014/main" id="{B00F8A01-419A-5AA6-17A1-45C045A23812}"/>
              </a:ext>
            </a:extLst>
          </p:cNvPr>
          <p:cNvSpPr txBox="1"/>
          <p:nvPr/>
        </p:nvSpPr>
        <p:spPr>
          <a:xfrm>
            <a:off x="9706885" y="928901"/>
            <a:ext cx="1146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>
                <a:solidFill>
                  <a:schemeClr val="bg1"/>
                </a:solidFill>
              </a:rPr>
              <a:t>Tesorería</a:t>
            </a:r>
            <a:endParaRPr lang="es-PE" dirty="0">
              <a:solidFill>
                <a:schemeClr val="bg1"/>
              </a:solidFill>
            </a:endParaRPr>
          </a:p>
        </p:txBody>
      </p:sp>
      <p:sp>
        <p:nvSpPr>
          <p:cNvPr id="78" name="Diagrama de flujo: conector 77">
            <a:extLst>
              <a:ext uri="{FF2B5EF4-FFF2-40B4-BE49-F238E27FC236}">
                <a16:creationId xmlns:a16="http://schemas.microsoft.com/office/drawing/2014/main" id="{649FE542-F18E-9C47-2D74-B81E76D9C29D}"/>
              </a:ext>
            </a:extLst>
          </p:cNvPr>
          <p:cNvSpPr/>
          <p:nvPr/>
        </p:nvSpPr>
        <p:spPr>
          <a:xfrm>
            <a:off x="500625" y="3473734"/>
            <a:ext cx="601019" cy="573270"/>
          </a:xfrm>
          <a:prstGeom prst="flowChartConnector">
            <a:avLst/>
          </a:prstGeom>
          <a:solidFill>
            <a:srgbClr val="0AB6F5"/>
          </a:solidFill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200" dirty="0">
                <a:solidFill>
                  <a:schemeClr val="tx1"/>
                </a:solidFill>
              </a:rPr>
              <a:t>API</a:t>
            </a:r>
          </a:p>
          <a:p>
            <a:pPr algn="ctr"/>
            <a:r>
              <a:rPr lang="es-ES" sz="1200" dirty="0">
                <a:solidFill>
                  <a:schemeClr val="tx1"/>
                </a:solidFill>
              </a:rPr>
              <a:t>(5)</a:t>
            </a:r>
            <a:endParaRPr lang="es-PE" sz="1200" dirty="0">
              <a:solidFill>
                <a:schemeClr val="tx1"/>
              </a:solidFill>
            </a:endParaRPr>
          </a:p>
        </p:txBody>
      </p:sp>
      <p:cxnSp>
        <p:nvCxnSpPr>
          <p:cNvPr id="79" name="Conector: angular 78">
            <a:extLst>
              <a:ext uri="{FF2B5EF4-FFF2-40B4-BE49-F238E27FC236}">
                <a16:creationId xmlns:a16="http://schemas.microsoft.com/office/drawing/2014/main" id="{94F1411D-223B-2CFA-542D-5FA90E837F83}"/>
              </a:ext>
            </a:extLst>
          </p:cNvPr>
          <p:cNvCxnSpPr>
            <a:cxnSpLocks/>
            <a:stCxn id="78" idx="4"/>
            <a:endCxn id="59" idx="1"/>
          </p:cNvCxnSpPr>
          <p:nvPr/>
        </p:nvCxnSpPr>
        <p:spPr>
          <a:xfrm rot="16200000" flipH="1">
            <a:off x="495057" y="4353081"/>
            <a:ext cx="1172269" cy="560113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ángulo 79">
            <a:extLst>
              <a:ext uri="{FF2B5EF4-FFF2-40B4-BE49-F238E27FC236}">
                <a16:creationId xmlns:a16="http://schemas.microsoft.com/office/drawing/2014/main" id="{3C4D3B5A-9631-5CCF-202B-204AF49DD052}"/>
              </a:ext>
            </a:extLst>
          </p:cNvPr>
          <p:cNvSpPr/>
          <p:nvPr/>
        </p:nvSpPr>
        <p:spPr>
          <a:xfrm>
            <a:off x="343934" y="1207302"/>
            <a:ext cx="914400" cy="914400"/>
          </a:xfrm>
          <a:prstGeom prst="rect">
            <a:avLst/>
          </a:prstGeom>
          <a:solidFill>
            <a:srgbClr val="0AB6F5"/>
          </a:solidFill>
          <a:ln>
            <a:solidFill>
              <a:srgbClr val="0AB6F5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chemeClr val="bg1"/>
                </a:solidFill>
              </a:rPr>
              <a:t>SAP</a:t>
            </a:r>
            <a:endParaRPr lang="es-PE" dirty="0">
              <a:solidFill>
                <a:schemeClr val="bg1"/>
              </a:solidFill>
            </a:endParaRPr>
          </a:p>
        </p:txBody>
      </p:sp>
      <p:cxnSp>
        <p:nvCxnSpPr>
          <p:cNvPr id="81" name="Conector recto de flecha 80">
            <a:extLst>
              <a:ext uri="{FF2B5EF4-FFF2-40B4-BE49-F238E27FC236}">
                <a16:creationId xmlns:a16="http://schemas.microsoft.com/office/drawing/2014/main" id="{C893C1BB-3A6A-07C0-6836-32C2AE970BE4}"/>
              </a:ext>
            </a:extLst>
          </p:cNvPr>
          <p:cNvCxnSpPr>
            <a:stCxn id="80" idx="2"/>
            <a:endCxn id="78" idx="0"/>
          </p:cNvCxnSpPr>
          <p:nvPr/>
        </p:nvCxnSpPr>
        <p:spPr>
          <a:xfrm>
            <a:off x="801134" y="2121702"/>
            <a:ext cx="1" cy="135203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CuadroTexto 81">
            <a:extLst>
              <a:ext uri="{FF2B5EF4-FFF2-40B4-BE49-F238E27FC236}">
                <a16:creationId xmlns:a16="http://schemas.microsoft.com/office/drawing/2014/main" id="{41B4AC51-F214-4525-E2D6-9A67DB659F7E}"/>
              </a:ext>
            </a:extLst>
          </p:cNvPr>
          <p:cNvSpPr txBox="1"/>
          <p:nvPr/>
        </p:nvSpPr>
        <p:spPr>
          <a:xfrm>
            <a:off x="826604" y="2281599"/>
            <a:ext cx="110564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50" dirty="0">
                <a:solidFill>
                  <a:schemeClr val="bg1"/>
                </a:solidFill>
              </a:rPr>
              <a:t>5) Consulta Cuenta Corriente del Acreedor</a:t>
            </a:r>
            <a:endParaRPr lang="es-PE" sz="1050" dirty="0">
              <a:solidFill>
                <a:schemeClr val="bg1"/>
              </a:solidFill>
            </a:endParaRPr>
          </a:p>
        </p:txBody>
      </p:sp>
      <p:sp>
        <p:nvSpPr>
          <p:cNvPr id="83" name="Elipse 82">
            <a:extLst>
              <a:ext uri="{FF2B5EF4-FFF2-40B4-BE49-F238E27FC236}">
                <a16:creationId xmlns:a16="http://schemas.microsoft.com/office/drawing/2014/main" id="{821753E6-D12B-C482-C41A-0F83808C116D}"/>
              </a:ext>
            </a:extLst>
          </p:cNvPr>
          <p:cNvSpPr/>
          <p:nvPr/>
        </p:nvSpPr>
        <p:spPr>
          <a:xfrm>
            <a:off x="1869100" y="3488959"/>
            <a:ext cx="629728" cy="603848"/>
          </a:xfrm>
          <a:prstGeom prst="ellipse">
            <a:avLst/>
          </a:prstGeom>
          <a:solidFill>
            <a:srgbClr val="7030A0"/>
          </a:solidFill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solidFill>
                  <a:schemeClr val="tx1"/>
                </a:solidFill>
              </a:rPr>
              <a:t>API</a:t>
            </a:r>
          </a:p>
          <a:p>
            <a:pPr algn="ctr"/>
            <a:r>
              <a:rPr lang="es-ES" sz="1400" dirty="0">
                <a:solidFill>
                  <a:schemeClr val="tx1"/>
                </a:solidFill>
              </a:rPr>
              <a:t>(2)</a:t>
            </a:r>
            <a:endParaRPr lang="es-PE" sz="1400" dirty="0">
              <a:solidFill>
                <a:schemeClr val="tx1"/>
              </a:solidFill>
            </a:endParaRPr>
          </a:p>
        </p:txBody>
      </p:sp>
      <p:cxnSp>
        <p:nvCxnSpPr>
          <p:cNvPr id="84" name="Conector: angular 83">
            <a:extLst>
              <a:ext uri="{FF2B5EF4-FFF2-40B4-BE49-F238E27FC236}">
                <a16:creationId xmlns:a16="http://schemas.microsoft.com/office/drawing/2014/main" id="{3B810419-FDF5-981A-9AEC-C13DE2D84295}"/>
              </a:ext>
            </a:extLst>
          </p:cNvPr>
          <p:cNvCxnSpPr>
            <a:cxnSpLocks/>
            <a:stCxn id="58" idx="1"/>
            <a:endCxn id="83" idx="0"/>
          </p:cNvCxnSpPr>
          <p:nvPr/>
        </p:nvCxnSpPr>
        <p:spPr>
          <a:xfrm rot="10800000" flipV="1">
            <a:off x="2183964" y="2776663"/>
            <a:ext cx="1841696" cy="712295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ector recto de flecha 84">
            <a:extLst>
              <a:ext uri="{FF2B5EF4-FFF2-40B4-BE49-F238E27FC236}">
                <a16:creationId xmlns:a16="http://schemas.microsoft.com/office/drawing/2014/main" id="{EA35D0CA-39B5-C198-27D1-3B30E38B3350}"/>
              </a:ext>
            </a:extLst>
          </p:cNvPr>
          <p:cNvCxnSpPr>
            <a:cxnSpLocks/>
            <a:stCxn id="83" idx="4"/>
          </p:cNvCxnSpPr>
          <p:nvPr/>
        </p:nvCxnSpPr>
        <p:spPr>
          <a:xfrm flipH="1">
            <a:off x="2177643" y="4092807"/>
            <a:ext cx="6321" cy="73373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CuadroTexto 85">
            <a:extLst>
              <a:ext uri="{FF2B5EF4-FFF2-40B4-BE49-F238E27FC236}">
                <a16:creationId xmlns:a16="http://schemas.microsoft.com/office/drawing/2014/main" id="{870341D6-7F9F-2D49-AD90-F0343775FF87}"/>
              </a:ext>
            </a:extLst>
          </p:cNvPr>
          <p:cNvSpPr txBox="1"/>
          <p:nvPr/>
        </p:nvSpPr>
        <p:spPr>
          <a:xfrm>
            <a:off x="2137481" y="2278012"/>
            <a:ext cx="120285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1100" dirty="0">
                <a:solidFill>
                  <a:schemeClr val="bg1"/>
                </a:solidFill>
              </a:rPr>
              <a:t>2) Datos Maestros (Lista)</a:t>
            </a:r>
          </a:p>
        </p:txBody>
      </p:sp>
      <p:sp>
        <p:nvSpPr>
          <p:cNvPr id="94" name="Rectángulo 93">
            <a:extLst>
              <a:ext uri="{FF2B5EF4-FFF2-40B4-BE49-F238E27FC236}">
                <a16:creationId xmlns:a16="http://schemas.microsoft.com/office/drawing/2014/main" id="{1B3A0EA2-15EA-C01D-D4B8-FE5588CA9524}"/>
              </a:ext>
            </a:extLst>
          </p:cNvPr>
          <p:cNvSpPr/>
          <p:nvPr/>
        </p:nvSpPr>
        <p:spPr>
          <a:xfrm>
            <a:off x="5632331" y="2583999"/>
            <a:ext cx="1179949" cy="370935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1400" dirty="0">
                <a:solidFill>
                  <a:schemeClr val="bg1"/>
                </a:solidFill>
              </a:rPr>
              <a:t>Factura</a:t>
            </a:r>
            <a:endParaRPr lang="es-PE" sz="1400" dirty="0">
              <a:solidFill>
                <a:schemeClr val="bg1"/>
              </a:solidFill>
            </a:endParaRPr>
          </a:p>
        </p:txBody>
      </p:sp>
      <p:sp>
        <p:nvSpPr>
          <p:cNvPr id="116" name="CuadroTexto 115">
            <a:extLst>
              <a:ext uri="{FF2B5EF4-FFF2-40B4-BE49-F238E27FC236}">
                <a16:creationId xmlns:a16="http://schemas.microsoft.com/office/drawing/2014/main" id="{1D8D352B-0B72-E653-5174-4C57D406CDA8}"/>
              </a:ext>
            </a:extLst>
          </p:cNvPr>
          <p:cNvSpPr txBox="1"/>
          <p:nvPr/>
        </p:nvSpPr>
        <p:spPr>
          <a:xfrm>
            <a:off x="4002585" y="2088153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>
                <a:solidFill>
                  <a:srgbClr val="7030A0"/>
                </a:solidFill>
              </a:rPr>
              <a:t>Sistema HHMM</a:t>
            </a:r>
            <a:endParaRPr lang="es-PE" dirty="0">
              <a:solidFill>
                <a:srgbClr val="7030A0"/>
              </a:solidFill>
            </a:endParaRPr>
          </a:p>
        </p:txBody>
      </p:sp>
      <p:sp>
        <p:nvSpPr>
          <p:cNvPr id="117" name="Rectángulo 116">
            <a:extLst>
              <a:ext uri="{FF2B5EF4-FFF2-40B4-BE49-F238E27FC236}">
                <a16:creationId xmlns:a16="http://schemas.microsoft.com/office/drawing/2014/main" id="{EE2EC801-F0ED-B4C5-2B31-BAAB4635BD9A}"/>
              </a:ext>
            </a:extLst>
          </p:cNvPr>
          <p:cNvSpPr/>
          <p:nvPr/>
        </p:nvSpPr>
        <p:spPr>
          <a:xfrm>
            <a:off x="1776211" y="5047944"/>
            <a:ext cx="2974250" cy="382448"/>
          </a:xfrm>
          <a:prstGeom prst="rect">
            <a:avLst/>
          </a:prstGeom>
          <a:solidFill>
            <a:srgbClr val="D1B613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solidFill>
                  <a:schemeClr val="bg1"/>
                </a:solidFill>
              </a:rPr>
              <a:t>Producción</a:t>
            </a:r>
            <a:endParaRPr lang="es-PE" sz="1400" dirty="0">
              <a:solidFill>
                <a:schemeClr val="bg1"/>
              </a:solidFill>
            </a:endParaRPr>
          </a:p>
        </p:txBody>
      </p:sp>
      <p:sp>
        <p:nvSpPr>
          <p:cNvPr id="135" name="CuadroTexto 134">
            <a:extLst>
              <a:ext uri="{FF2B5EF4-FFF2-40B4-BE49-F238E27FC236}">
                <a16:creationId xmlns:a16="http://schemas.microsoft.com/office/drawing/2014/main" id="{213EBD1E-DE52-E3A6-DAF5-9F9ADF9227AD}"/>
              </a:ext>
            </a:extLst>
          </p:cNvPr>
          <p:cNvSpPr txBox="1"/>
          <p:nvPr/>
        </p:nvSpPr>
        <p:spPr>
          <a:xfrm>
            <a:off x="1326705" y="5597649"/>
            <a:ext cx="20136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00" b="1" dirty="0">
                <a:solidFill>
                  <a:srgbClr val="FFC000"/>
                </a:solidFill>
              </a:rPr>
              <a:t>ADG-SHM (</a:t>
            </a:r>
            <a:r>
              <a:rPr lang="es-ES" sz="1400" b="1" dirty="0" err="1">
                <a:solidFill>
                  <a:srgbClr val="FFC000"/>
                </a:solidFill>
              </a:rPr>
              <a:t>Workflow</a:t>
            </a:r>
            <a:r>
              <a:rPr lang="es-ES" sz="1400" b="1" dirty="0">
                <a:solidFill>
                  <a:srgbClr val="FFC000"/>
                </a:solidFill>
              </a:rPr>
              <a:t>)</a:t>
            </a:r>
            <a:endParaRPr lang="es-PE" sz="1400" b="1" dirty="0">
              <a:solidFill>
                <a:srgbClr val="FFC000"/>
              </a:solidFill>
            </a:endParaRPr>
          </a:p>
        </p:txBody>
      </p:sp>
      <p:sp>
        <p:nvSpPr>
          <p:cNvPr id="148" name="Título 147">
            <a:extLst>
              <a:ext uri="{FF2B5EF4-FFF2-40B4-BE49-F238E27FC236}">
                <a16:creationId xmlns:a16="http://schemas.microsoft.com/office/drawing/2014/main" id="{81200F85-89B8-2771-F236-BE046F471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Fase 1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1475728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ángulo 57">
            <a:extLst>
              <a:ext uri="{FF2B5EF4-FFF2-40B4-BE49-F238E27FC236}">
                <a16:creationId xmlns:a16="http://schemas.microsoft.com/office/drawing/2014/main" id="{43B13A40-A431-0F49-6529-81F3255A6FD7}"/>
              </a:ext>
            </a:extLst>
          </p:cNvPr>
          <p:cNvSpPr/>
          <p:nvPr/>
        </p:nvSpPr>
        <p:spPr>
          <a:xfrm>
            <a:off x="967985" y="1602400"/>
            <a:ext cx="4140680" cy="638355"/>
          </a:xfrm>
          <a:prstGeom prst="rect">
            <a:avLst/>
          </a:prstGeom>
          <a:solidFill>
            <a:srgbClr val="7030A0"/>
          </a:solidFill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600" dirty="0">
                <a:solidFill>
                  <a:schemeClr val="bg1"/>
                </a:solidFill>
              </a:rPr>
              <a:t>HHMM</a:t>
            </a:r>
            <a:endParaRPr lang="es-PE" sz="1600" dirty="0">
              <a:solidFill>
                <a:schemeClr val="bg1"/>
              </a:solidFill>
            </a:endParaRPr>
          </a:p>
        </p:txBody>
      </p:sp>
      <p:sp>
        <p:nvSpPr>
          <p:cNvPr id="59" name="Rectángulo 58">
            <a:extLst>
              <a:ext uri="{FF2B5EF4-FFF2-40B4-BE49-F238E27FC236}">
                <a16:creationId xmlns:a16="http://schemas.microsoft.com/office/drawing/2014/main" id="{31623742-4151-6EC1-CD7F-7887FE220560}"/>
              </a:ext>
            </a:extLst>
          </p:cNvPr>
          <p:cNvSpPr/>
          <p:nvPr/>
        </p:nvSpPr>
        <p:spPr>
          <a:xfrm>
            <a:off x="648016" y="4555015"/>
            <a:ext cx="11376344" cy="1189418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>
              <a:solidFill>
                <a:schemeClr val="bg1"/>
              </a:solidFill>
            </a:endParaRPr>
          </a:p>
        </p:txBody>
      </p:sp>
      <p:sp>
        <p:nvSpPr>
          <p:cNvPr id="68" name="Elipse 67">
            <a:extLst>
              <a:ext uri="{FF2B5EF4-FFF2-40B4-BE49-F238E27FC236}">
                <a16:creationId xmlns:a16="http://schemas.microsoft.com/office/drawing/2014/main" id="{82FA946B-5372-E787-9EB5-0AF276011454}"/>
              </a:ext>
            </a:extLst>
          </p:cNvPr>
          <p:cNvSpPr/>
          <p:nvPr/>
        </p:nvSpPr>
        <p:spPr>
          <a:xfrm>
            <a:off x="2379450" y="3312572"/>
            <a:ext cx="629728" cy="603848"/>
          </a:xfrm>
          <a:prstGeom prst="ellips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solidFill>
                  <a:schemeClr val="bg1"/>
                </a:solidFill>
              </a:rPr>
              <a:t>API</a:t>
            </a:r>
          </a:p>
          <a:p>
            <a:pPr algn="ctr"/>
            <a:r>
              <a:rPr lang="es-ES" sz="1400" dirty="0">
                <a:solidFill>
                  <a:schemeClr val="bg1"/>
                </a:solidFill>
              </a:rPr>
              <a:t>(4)</a:t>
            </a:r>
            <a:endParaRPr lang="es-PE" sz="1400" dirty="0">
              <a:solidFill>
                <a:schemeClr val="bg1"/>
              </a:solidFill>
            </a:endParaRPr>
          </a:p>
        </p:txBody>
      </p:sp>
      <p:sp>
        <p:nvSpPr>
          <p:cNvPr id="69" name="CuadroTexto 68">
            <a:extLst>
              <a:ext uri="{FF2B5EF4-FFF2-40B4-BE49-F238E27FC236}">
                <a16:creationId xmlns:a16="http://schemas.microsoft.com/office/drawing/2014/main" id="{8F6CE24F-01DC-1098-67E7-2923EDC4A4C1}"/>
              </a:ext>
            </a:extLst>
          </p:cNvPr>
          <p:cNvSpPr txBox="1"/>
          <p:nvPr/>
        </p:nvSpPr>
        <p:spPr>
          <a:xfrm>
            <a:off x="3018716" y="3279349"/>
            <a:ext cx="131304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1100" dirty="0">
                <a:solidFill>
                  <a:schemeClr val="bg1"/>
                </a:solidFill>
              </a:rPr>
              <a:t>4) Envío de datos de Liquidación (Lista)</a:t>
            </a:r>
          </a:p>
        </p:txBody>
      </p:sp>
      <p:sp>
        <p:nvSpPr>
          <p:cNvPr id="72" name="Rectángulo 71">
            <a:extLst>
              <a:ext uri="{FF2B5EF4-FFF2-40B4-BE49-F238E27FC236}">
                <a16:creationId xmlns:a16="http://schemas.microsoft.com/office/drawing/2014/main" id="{7847DD6F-7F1E-0B7B-5B5D-B78384E1C081}"/>
              </a:ext>
            </a:extLst>
          </p:cNvPr>
          <p:cNvSpPr/>
          <p:nvPr/>
        </p:nvSpPr>
        <p:spPr>
          <a:xfrm>
            <a:off x="3675241" y="1728912"/>
            <a:ext cx="1289650" cy="370935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1400" dirty="0">
                <a:solidFill>
                  <a:schemeClr val="bg1"/>
                </a:solidFill>
              </a:rPr>
              <a:t>Liquidación</a:t>
            </a:r>
            <a:endParaRPr lang="es-PE" sz="1400" dirty="0">
              <a:solidFill>
                <a:schemeClr val="bg1"/>
              </a:solidFill>
            </a:endParaRPr>
          </a:p>
        </p:txBody>
      </p:sp>
      <p:sp>
        <p:nvSpPr>
          <p:cNvPr id="73" name="Rectángulo 72">
            <a:extLst>
              <a:ext uri="{FF2B5EF4-FFF2-40B4-BE49-F238E27FC236}">
                <a16:creationId xmlns:a16="http://schemas.microsoft.com/office/drawing/2014/main" id="{48B3CA84-CA14-4565-418F-13A63421FB08}"/>
              </a:ext>
            </a:extLst>
          </p:cNvPr>
          <p:cNvSpPr/>
          <p:nvPr/>
        </p:nvSpPr>
        <p:spPr>
          <a:xfrm>
            <a:off x="1114633" y="1728913"/>
            <a:ext cx="1289650" cy="370935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1400" dirty="0">
                <a:solidFill>
                  <a:schemeClr val="bg1"/>
                </a:solidFill>
              </a:rPr>
              <a:t>Producción</a:t>
            </a:r>
            <a:endParaRPr lang="es-PE" sz="1400" dirty="0">
              <a:solidFill>
                <a:schemeClr val="bg1"/>
              </a:solidFill>
            </a:endParaRPr>
          </a:p>
        </p:txBody>
      </p:sp>
      <p:cxnSp>
        <p:nvCxnSpPr>
          <p:cNvPr id="74" name="Conector: angular 73">
            <a:extLst>
              <a:ext uri="{FF2B5EF4-FFF2-40B4-BE49-F238E27FC236}">
                <a16:creationId xmlns:a16="http://schemas.microsoft.com/office/drawing/2014/main" id="{154A1B40-2F19-F59D-583E-375E5FE6D5E5}"/>
              </a:ext>
            </a:extLst>
          </p:cNvPr>
          <p:cNvCxnSpPr>
            <a:cxnSpLocks/>
            <a:stCxn id="72" idx="2"/>
            <a:endCxn id="68" idx="0"/>
          </p:cNvCxnSpPr>
          <p:nvPr/>
        </p:nvCxnSpPr>
        <p:spPr>
          <a:xfrm rot="5400000">
            <a:off x="2900828" y="1893333"/>
            <a:ext cx="1212725" cy="1625752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ector: angular 74">
            <a:extLst>
              <a:ext uri="{FF2B5EF4-FFF2-40B4-BE49-F238E27FC236}">
                <a16:creationId xmlns:a16="http://schemas.microsoft.com/office/drawing/2014/main" id="{DCC8BCAB-DD48-3B77-BFB3-C5963128F3C2}"/>
              </a:ext>
            </a:extLst>
          </p:cNvPr>
          <p:cNvCxnSpPr>
            <a:cxnSpLocks/>
            <a:stCxn id="68" idx="4"/>
            <a:endCxn id="126" idx="0"/>
          </p:cNvCxnSpPr>
          <p:nvPr/>
        </p:nvCxnSpPr>
        <p:spPr>
          <a:xfrm rot="5400000">
            <a:off x="2135916" y="4473218"/>
            <a:ext cx="1115196" cy="1600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ángulo 93">
            <a:extLst>
              <a:ext uri="{FF2B5EF4-FFF2-40B4-BE49-F238E27FC236}">
                <a16:creationId xmlns:a16="http://schemas.microsoft.com/office/drawing/2014/main" id="{1B3A0EA2-15EA-C01D-D4B8-FE5588CA9524}"/>
              </a:ext>
            </a:extLst>
          </p:cNvPr>
          <p:cNvSpPr/>
          <p:nvPr/>
        </p:nvSpPr>
        <p:spPr>
          <a:xfrm>
            <a:off x="2553084" y="1753685"/>
            <a:ext cx="927337" cy="346161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1400" dirty="0">
                <a:solidFill>
                  <a:schemeClr val="bg1"/>
                </a:solidFill>
              </a:rPr>
              <a:t>Factura</a:t>
            </a:r>
            <a:endParaRPr lang="es-PE" sz="1400" dirty="0">
              <a:solidFill>
                <a:schemeClr val="bg1"/>
              </a:solidFill>
            </a:endParaRPr>
          </a:p>
        </p:txBody>
      </p:sp>
      <p:sp>
        <p:nvSpPr>
          <p:cNvPr id="116" name="CuadroTexto 115">
            <a:extLst>
              <a:ext uri="{FF2B5EF4-FFF2-40B4-BE49-F238E27FC236}">
                <a16:creationId xmlns:a16="http://schemas.microsoft.com/office/drawing/2014/main" id="{1D8D352B-0B72-E653-5174-4C57D406CDA8}"/>
              </a:ext>
            </a:extLst>
          </p:cNvPr>
          <p:cNvSpPr txBox="1"/>
          <p:nvPr/>
        </p:nvSpPr>
        <p:spPr>
          <a:xfrm>
            <a:off x="967985" y="121387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>
                <a:solidFill>
                  <a:srgbClr val="7030A0"/>
                </a:solidFill>
              </a:rPr>
              <a:t>Sistema HHMM</a:t>
            </a:r>
            <a:endParaRPr lang="es-PE" dirty="0">
              <a:solidFill>
                <a:srgbClr val="7030A0"/>
              </a:solidFill>
            </a:endParaRPr>
          </a:p>
        </p:txBody>
      </p:sp>
      <p:sp>
        <p:nvSpPr>
          <p:cNvPr id="117" name="Rectángulo 116">
            <a:extLst>
              <a:ext uri="{FF2B5EF4-FFF2-40B4-BE49-F238E27FC236}">
                <a16:creationId xmlns:a16="http://schemas.microsoft.com/office/drawing/2014/main" id="{EE2EC801-F0ED-B4C5-2B31-BAAB4635BD9A}"/>
              </a:ext>
            </a:extLst>
          </p:cNvPr>
          <p:cNvSpPr/>
          <p:nvPr/>
        </p:nvSpPr>
        <p:spPr>
          <a:xfrm>
            <a:off x="855887" y="5018345"/>
            <a:ext cx="1133990" cy="382448"/>
          </a:xfrm>
          <a:prstGeom prst="rect">
            <a:avLst/>
          </a:prstGeom>
          <a:solidFill>
            <a:srgbClr val="D1B613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solidFill>
                  <a:schemeClr val="bg1"/>
                </a:solidFill>
              </a:rPr>
              <a:t>Producción</a:t>
            </a:r>
            <a:endParaRPr lang="es-PE" sz="1400" dirty="0">
              <a:solidFill>
                <a:schemeClr val="bg1"/>
              </a:solidFill>
            </a:endParaRPr>
          </a:p>
        </p:txBody>
      </p:sp>
      <p:sp>
        <p:nvSpPr>
          <p:cNvPr id="126" name="Rectángulo 125">
            <a:extLst>
              <a:ext uri="{FF2B5EF4-FFF2-40B4-BE49-F238E27FC236}">
                <a16:creationId xmlns:a16="http://schemas.microsoft.com/office/drawing/2014/main" id="{BE16BD42-02D8-1D63-D78D-EC650E7273EB}"/>
              </a:ext>
            </a:extLst>
          </p:cNvPr>
          <p:cNvSpPr/>
          <p:nvPr/>
        </p:nvSpPr>
        <p:spPr>
          <a:xfrm>
            <a:off x="2064859" y="5031616"/>
            <a:ext cx="1255709" cy="382448"/>
          </a:xfrm>
          <a:prstGeom prst="rect">
            <a:avLst/>
          </a:prstGeom>
          <a:solidFill>
            <a:srgbClr val="D1B613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solidFill>
                  <a:schemeClr val="bg1"/>
                </a:solidFill>
              </a:rPr>
              <a:t>Liquidación</a:t>
            </a:r>
            <a:endParaRPr lang="es-PE" sz="1400" dirty="0">
              <a:solidFill>
                <a:schemeClr val="bg1"/>
              </a:solidFill>
            </a:endParaRPr>
          </a:p>
        </p:txBody>
      </p:sp>
      <p:sp>
        <p:nvSpPr>
          <p:cNvPr id="135" name="CuadroTexto 134">
            <a:extLst>
              <a:ext uri="{FF2B5EF4-FFF2-40B4-BE49-F238E27FC236}">
                <a16:creationId xmlns:a16="http://schemas.microsoft.com/office/drawing/2014/main" id="{213EBD1E-DE52-E3A6-DAF5-9F9ADF9227AD}"/>
              </a:ext>
            </a:extLst>
          </p:cNvPr>
          <p:cNvSpPr txBox="1"/>
          <p:nvPr/>
        </p:nvSpPr>
        <p:spPr>
          <a:xfrm>
            <a:off x="549966" y="5678405"/>
            <a:ext cx="20136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00" b="1" dirty="0">
                <a:solidFill>
                  <a:srgbClr val="FFC000"/>
                </a:solidFill>
              </a:rPr>
              <a:t>ADG-SHM (</a:t>
            </a:r>
            <a:r>
              <a:rPr lang="es-ES" sz="1400" b="1" dirty="0" err="1">
                <a:solidFill>
                  <a:srgbClr val="FFC000"/>
                </a:solidFill>
              </a:rPr>
              <a:t>Workflow</a:t>
            </a:r>
            <a:r>
              <a:rPr lang="es-ES" sz="1400" b="1" dirty="0">
                <a:solidFill>
                  <a:srgbClr val="FFC000"/>
                </a:solidFill>
              </a:rPr>
              <a:t>)</a:t>
            </a:r>
            <a:endParaRPr lang="es-PE" sz="1400" b="1" dirty="0">
              <a:solidFill>
                <a:srgbClr val="FFC000"/>
              </a:solidFill>
            </a:endParaRPr>
          </a:p>
        </p:txBody>
      </p:sp>
      <p:sp>
        <p:nvSpPr>
          <p:cNvPr id="148" name="Título 147">
            <a:extLst>
              <a:ext uri="{FF2B5EF4-FFF2-40B4-BE49-F238E27FC236}">
                <a16:creationId xmlns:a16="http://schemas.microsoft.com/office/drawing/2014/main" id="{81200F85-89B8-2771-F236-BE046F471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Fase 2</a:t>
            </a:r>
            <a:endParaRPr lang="es-PE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59D991A-A01B-17E9-FB56-904E43E53FC6}"/>
              </a:ext>
            </a:extLst>
          </p:cNvPr>
          <p:cNvSpPr/>
          <p:nvPr/>
        </p:nvSpPr>
        <p:spPr>
          <a:xfrm>
            <a:off x="3434882" y="4964067"/>
            <a:ext cx="1752505" cy="487766"/>
          </a:xfrm>
          <a:prstGeom prst="rect">
            <a:avLst/>
          </a:prstGeom>
          <a:solidFill>
            <a:srgbClr val="D1B613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solidFill>
                  <a:schemeClr val="bg1"/>
                </a:solidFill>
              </a:rPr>
              <a:t>Generación de Orden Pago (OP)</a:t>
            </a:r>
            <a:endParaRPr lang="es-PE" sz="1400" dirty="0">
              <a:solidFill>
                <a:schemeClr val="bg1"/>
              </a:solidFill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805F31E1-1CC0-995F-FEE1-48255B212377}"/>
              </a:ext>
            </a:extLst>
          </p:cNvPr>
          <p:cNvSpPr/>
          <p:nvPr/>
        </p:nvSpPr>
        <p:spPr>
          <a:xfrm>
            <a:off x="5518895" y="4956850"/>
            <a:ext cx="1752505" cy="492942"/>
          </a:xfrm>
          <a:prstGeom prst="rect">
            <a:avLst/>
          </a:prstGeom>
          <a:solidFill>
            <a:srgbClr val="D1B613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solidFill>
                  <a:schemeClr val="bg1"/>
                </a:solidFill>
              </a:rPr>
              <a:t>Aprobación </a:t>
            </a:r>
          </a:p>
          <a:p>
            <a:pPr algn="ctr"/>
            <a:r>
              <a:rPr lang="es-ES" sz="1400" dirty="0">
                <a:solidFill>
                  <a:schemeClr val="bg1"/>
                </a:solidFill>
              </a:rPr>
              <a:t>Orden Pago (OP)</a:t>
            </a:r>
            <a:endParaRPr lang="es-PE" sz="1400" dirty="0">
              <a:solidFill>
                <a:schemeClr val="bg1"/>
              </a:solidFill>
            </a:endParaRPr>
          </a:p>
        </p:txBody>
      </p:sp>
      <p:cxnSp>
        <p:nvCxnSpPr>
          <p:cNvPr id="3" name="Conector recto de flecha 2">
            <a:extLst>
              <a:ext uri="{FF2B5EF4-FFF2-40B4-BE49-F238E27FC236}">
                <a16:creationId xmlns:a16="http://schemas.microsoft.com/office/drawing/2014/main" id="{4FB8A9FF-35ED-03F0-39C3-A7F6B3825DDE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5187387" y="5203321"/>
            <a:ext cx="331508" cy="46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ángulo 4">
            <a:extLst>
              <a:ext uri="{FF2B5EF4-FFF2-40B4-BE49-F238E27FC236}">
                <a16:creationId xmlns:a16="http://schemas.microsoft.com/office/drawing/2014/main" id="{502B7EAC-3BD2-D3F7-B1A5-A13D534CFCC2}"/>
              </a:ext>
            </a:extLst>
          </p:cNvPr>
          <p:cNvSpPr/>
          <p:nvPr/>
        </p:nvSpPr>
        <p:spPr>
          <a:xfrm>
            <a:off x="7998570" y="3148567"/>
            <a:ext cx="1492367" cy="776159"/>
          </a:xfrm>
          <a:prstGeom prst="rect">
            <a:avLst/>
          </a:prstGeom>
          <a:solidFill>
            <a:srgbClr val="0AB6F5"/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chemeClr val="bg1"/>
                </a:solidFill>
              </a:rPr>
              <a:t>Tesorería Pago en SAP</a:t>
            </a:r>
            <a:endParaRPr lang="es-PE" dirty="0">
              <a:solidFill>
                <a:schemeClr val="bg1"/>
              </a:solidFill>
            </a:endParaRP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22E13E72-41B6-AD20-0810-58ADF48BBB59}"/>
              </a:ext>
            </a:extLst>
          </p:cNvPr>
          <p:cNvSpPr/>
          <p:nvPr/>
        </p:nvSpPr>
        <p:spPr>
          <a:xfrm>
            <a:off x="10141403" y="4950123"/>
            <a:ext cx="1096573" cy="492942"/>
          </a:xfrm>
          <a:prstGeom prst="rect">
            <a:avLst/>
          </a:prstGeom>
          <a:solidFill>
            <a:srgbClr val="D1B613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solidFill>
                  <a:schemeClr val="bg1"/>
                </a:solidFill>
              </a:rPr>
              <a:t>Completar Pago</a:t>
            </a:r>
            <a:endParaRPr lang="es-PE" sz="1400" dirty="0">
              <a:solidFill>
                <a:schemeClr val="bg1"/>
              </a:solidFill>
            </a:endParaRPr>
          </a:p>
        </p:txBody>
      </p:sp>
      <p:cxnSp>
        <p:nvCxnSpPr>
          <p:cNvPr id="19" name="Conector: angular 18">
            <a:extLst>
              <a:ext uri="{FF2B5EF4-FFF2-40B4-BE49-F238E27FC236}">
                <a16:creationId xmlns:a16="http://schemas.microsoft.com/office/drawing/2014/main" id="{34B8BC8A-417D-1DFC-8DCA-D2DE516F6F16}"/>
              </a:ext>
            </a:extLst>
          </p:cNvPr>
          <p:cNvCxnSpPr>
            <a:cxnSpLocks/>
            <a:stCxn id="9" idx="3"/>
            <a:endCxn id="5" idx="1"/>
          </p:cNvCxnSpPr>
          <p:nvPr/>
        </p:nvCxnSpPr>
        <p:spPr>
          <a:xfrm flipV="1">
            <a:off x="7271400" y="3536647"/>
            <a:ext cx="727170" cy="1666674"/>
          </a:xfrm>
          <a:prstGeom prst="bentConnector3">
            <a:avLst/>
          </a:prstGeom>
          <a:ln w="38100"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ector: angular 22">
            <a:extLst>
              <a:ext uri="{FF2B5EF4-FFF2-40B4-BE49-F238E27FC236}">
                <a16:creationId xmlns:a16="http://schemas.microsoft.com/office/drawing/2014/main" id="{A9FF2832-50E8-5F2F-3E83-C541B3643912}"/>
              </a:ext>
            </a:extLst>
          </p:cNvPr>
          <p:cNvCxnSpPr>
            <a:cxnSpLocks/>
            <a:stCxn id="5" idx="3"/>
            <a:endCxn id="16" idx="1"/>
          </p:cNvCxnSpPr>
          <p:nvPr/>
        </p:nvCxnSpPr>
        <p:spPr>
          <a:xfrm>
            <a:off x="9490937" y="3536647"/>
            <a:ext cx="650466" cy="1659947"/>
          </a:xfrm>
          <a:prstGeom prst="bentConnector3">
            <a:avLst>
              <a:gd name="adj1" fmla="val 50000"/>
            </a:avLst>
          </a:prstGeom>
          <a:ln w="38100"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Elipse 36">
            <a:extLst>
              <a:ext uri="{FF2B5EF4-FFF2-40B4-BE49-F238E27FC236}">
                <a16:creationId xmlns:a16="http://schemas.microsoft.com/office/drawing/2014/main" id="{3AACF909-041E-C759-F501-8A4DA8379E95}"/>
              </a:ext>
            </a:extLst>
          </p:cNvPr>
          <p:cNvSpPr/>
          <p:nvPr/>
        </p:nvSpPr>
        <p:spPr>
          <a:xfrm>
            <a:off x="10489944" y="2885385"/>
            <a:ext cx="603849" cy="569343"/>
          </a:xfrm>
          <a:prstGeom prst="ellipse">
            <a:avLst/>
          </a:prstGeom>
          <a:solidFill>
            <a:srgbClr val="0AB6F5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100" dirty="0">
                <a:solidFill>
                  <a:schemeClr val="tx1"/>
                </a:solidFill>
              </a:rPr>
              <a:t>API</a:t>
            </a:r>
          </a:p>
          <a:p>
            <a:pPr algn="ctr"/>
            <a:r>
              <a:rPr lang="es-ES" sz="1100" dirty="0">
                <a:solidFill>
                  <a:schemeClr val="tx1"/>
                </a:solidFill>
              </a:rPr>
              <a:t>(6)</a:t>
            </a:r>
            <a:endParaRPr lang="es-PE" sz="1100" dirty="0">
              <a:solidFill>
                <a:schemeClr val="tx1"/>
              </a:solidFill>
            </a:endParaRPr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003BCCD0-6B7E-7A33-4228-368401BC1995}"/>
              </a:ext>
            </a:extLst>
          </p:cNvPr>
          <p:cNvSpPr/>
          <p:nvPr/>
        </p:nvSpPr>
        <p:spPr>
          <a:xfrm>
            <a:off x="11077367" y="692965"/>
            <a:ext cx="1004012" cy="776159"/>
          </a:xfrm>
          <a:prstGeom prst="rect">
            <a:avLst/>
          </a:prstGeom>
          <a:solidFill>
            <a:srgbClr val="0AB6F5"/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chemeClr val="bg1"/>
                </a:solidFill>
              </a:rPr>
              <a:t>SAP</a:t>
            </a:r>
            <a:endParaRPr lang="es-PE" dirty="0">
              <a:solidFill>
                <a:schemeClr val="bg1"/>
              </a:solidFill>
            </a:endParaRPr>
          </a:p>
        </p:txBody>
      </p:sp>
      <p:cxnSp>
        <p:nvCxnSpPr>
          <p:cNvPr id="39" name="Conector: angular 38">
            <a:extLst>
              <a:ext uri="{FF2B5EF4-FFF2-40B4-BE49-F238E27FC236}">
                <a16:creationId xmlns:a16="http://schemas.microsoft.com/office/drawing/2014/main" id="{CBD55C8B-42F5-2291-0B70-E546BCB2B605}"/>
              </a:ext>
            </a:extLst>
          </p:cNvPr>
          <p:cNvCxnSpPr>
            <a:cxnSpLocks/>
            <a:stCxn id="38" idx="2"/>
            <a:endCxn id="37" idx="6"/>
          </p:cNvCxnSpPr>
          <p:nvPr/>
        </p:nvCxnSpPr>
        <p:spPr>
          <a:xfrm rot="5400000">
            <a:off x="10486117" y="2076800"/>
            <a:ext cx="1700933" cy="485580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CuadroTexto 39">
            <a:extLst>
              <a:ext uri="{FF2B5EF4-FFF2-40B4-BE49-F238E27FC236}">
                <a16:creationId xmlns:a16="http://schemas.microsoft.com/office/drawing/2014/main" id="{1839B400-4672-71FE-99A6-F912BD8747EF}"/>
              </a:ext>
            </a:extLst>
          </p:cNvPr>
          <p:cNvSpPr txBox="1"/>
          <p:nvPr/>
        </p:nvSpPr>
        <p:spPr>
          <a:xfrm>
            <a:off x="10203014" y="1844976"/>
            <a:ext cx="108986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>
                <a:solidFill>
                  <a:schemeClr val="bg1"/>
                </a:solidFill>
              </a:rPr>
              <a:t>6) Consulta de Estado de Pago de  Factura SAP</a:t>
            </a:r>
            <a:endParaRPr lang="es-PE" sz="1100" dirty="0">
              <a:solidFill>
                <a:schemeClr val="bg1"/>
              </a:solidFill>
            </a:endParaRPr>
          </a:p>
        </p:txBody>
      </p:sp>
      <p:cxnSp>
        <p:nvCxnSpPr>
          <p:cNvPr id="42" name="Conector: angular 41">
            <a:extLst>
              <a:ext uri="{FF2B5EF4-FFF2-40B4-BE49-F238E27FC236}">
                <a16:creationId xmlns:a16="http://schemas.microsoft.com/office/drawing/2014/main" id="{8899BFB8-148B-415A-A735-BA640485F4C4}"/>
              </a:ext>
            </a:extLst>
          </p:cNvPr>
          <p:cNvCxnSpPr>
            <a:cxnSpLocks/>
            <a:endCxn id="37" idx="4"/>
          </p:cNvCxnSpPr>
          <p:nvPr/>
        </p:nvCxnSpPr>
        <p:spPr>
          <a:xfrm rot="5400000" flipH="1" flipV="1">
            <a:off x="10031308" y="4215290"/>
            <a:ext cx="1521123" cy="12700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5705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1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23042"/>
      </a:accent1>
      <a:accent2>
        <a:srgbClr val="3578AF"/>
      </a:accent2>
      <a:accent3>
        <a:srgbClr val="C4C4C4"/>
      </a:accent3>
      <a:accent4>
        <a:srgbClr val="A80B22"/>
      </a:accent4>
      <a:accent5>
        <a:srgbClr val="E2E2E2"/>
      </a:accent5>
      <a:accent6>
        <a:srgbClr val="2A6187"/>
      </a:accent6>
      <a:hlink>
        <a:srgbClr val="0563C1"/>
      </a:hlink>
      <a:folHlink>
        <a:srgbClr val="954F72"/>
      </a:folHlink>
    </a:clrScheme>
    <a:fontScheme name="Custom 8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tarter Template_Heritage Month Presentation" id="{910467CA-E581-43CB-A3F9-242953556B2E}" vid="{325629C9-8C54-4982-A5E7-91DBF3E63BF9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lcf76f155ced4ddcb4097134ff3c332f xmlns="71af3243-3dd4-4a8d-8c0d-dd76da1f02a5">
      <Terms xmlns="http://schemas.microsoft.com/office/infopath/2007/PartnerControls"/>
    </lcf76f155ced4ddcb4097134ff3c332f>
    <TaxCatchAll xmlns="230e9df3-be65-4c73-a93b-d1236ebd677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8" ma:contentTypeDescription="Create a new document." ma:contentTypeScope="" ma:versionID="22a266b9fa9a230c5a512669d8b298c3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ddc33fff6b14141ee5c74a0d29ea6a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2:lcf76f155ced4ddcb4097134ff3c332f" minOccurs="0"/>
                <xsd:element ref="ns4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lcf76f155ced4ddcb4097134ff3c332f" ma:index="24" nillable="true" ma:taxonomy="true" ma:internalName="lcf76f155ced4ddcb4097134ff3c332f" ma:taxonomyFieldName="MediaServiceAITags" ma:displayName="Image Tags" ma:readOnly="false" ma:fieldId="{5cf76f15-5ced-4ddc-b409-7134ff3c332f}" ma:taxonomyMulti="true" ma:sspId="e385fb40-52d4-4fae-9c5b-3e8ff8a5878e" ma:termSetId="09814cd3-568e-4e90-9814-8d621ff8fb84" ma:anchorId="00000000-0000-0000-0000-000000000000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5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73ACE82-BD1C-4CC4-B9C6-7097502B70B7}">
  <ds:schemaRefs>
    <ds:schemaRef ds:uri="http://www.w3.org/XML/1998/namespace"/>
    <ds:schemaRef ds:uri="http://purl.org/dc/dcmitype/"/>
    <ds:schemaRef ds:uri="230e9df3-be65-4c73-a93b-d1236ebd677e"/>
    <ds:schemaRef ds:uri="http://schemas.microsoft.com/office/2006/documentManagement/types"/>
    <ds:schemaRef ds:uri="http://purl.org/dc/elements/1.1/"/>
    <ds:schemaRef ds:uri="16c05727-aa75-4e4a-9b5f-8a80a1165891"/>
    <ds:schemaRef ds:uri="http://schemas.openxmlformats.org/package/2006/metadata/core-properties"/>
    <ds:schemaRef ds:uri="http://schemas.microsoft.com/office/2006/metadata/properties"/>
    <ds:schemaRef ds:uri="http://purl.org/dc/terms/"/>
    <ds:schemaRef ds:uri="http://schemas.microsoft.com/office/infopath/2007/PartnerControls"/>
    <ds:schemaRef ds:uri="71af3243-3dd4-4a8d-8c0d-dd76da1f02a5"/>
    <ds:schemaRef ds:uri="http://schemas.microsoft.com/sharepoint/v3"/>
  </ds:schemaRefs>
</ds:datastoreItem>
</file>

<file path=customXml/itemProps2.xml><?xml version="1.0" encoding="utf-8"?>
<ds:datastoreItem xmlns:ds="http://schemas.openxmlformats.org/officeDocument/2006/customXml" ds:itemID="{A80AD4D6-2712-4EC3-A727-A5652AD67F9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704BC66-A771-492B-8E79-E3C5E33B71F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72f988bf-86f1-41af-91ab-2d7cd011db47}" enabled="0" method="" siteId="{72f988bf-86f1-41af-91ab-2d7cd011db4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Starter Template_Heritage Month Presentation</Template>
  <TotalTime>0</TotalTime>
  <Words>182</Words>
  <Application>Microsoft Office PowerPoint</Application>
  <PresentationFormat>Panorámica</PresentationFormat>
  <Paragraphs>60</Paragraphs>
  <Slides>6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8" baseType="lpstr">
      <vt:lpstr>Arial</vt:lpstr>
      <vt:lpstr>Office Theme</vt:lpstr>
      <vt:lpstr>Sistema de Honorarios Médicos Integraciones</vt:lpstr>
      <vt:lpstr>Proceso</vt:lpstr>
      <vt:lpstr>Marcha Blanca</vt:lpstr>
      <vt:lpstr>Fase 1</vt:lpstr>
      <vt:lpstr>Fase 1</vt:lpstr>
      <vt:lpstr>Fase 2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2021-02-18T07:10:18Z</dcterms:created>
  <dcterms:modified xsi:type="dcterms:W3CDTF">2026-04-28T21:01:37Z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