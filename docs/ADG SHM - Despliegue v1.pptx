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7" r:id="rId4"/>
  </p:sldMasterIdLst>
  <p:notesMasterIdLst>
    <p:notesMasterId r:id="rId10"/>
  </p:notesMasterIdLst>
  <p:sldIdLst>
    <p:sldId id="1864" r:id="rId5"/>
    <p:sldId id="1899" r:id="rId6"/>
    <p:sldId id="1903" r:id="rId7"/>
    <p:sldId id="1904" r:id="rId8"/>
    <p:sldId id="1900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80" userDrawn="1">
          <p15:clr>
            <a:srgbClr val="A4A3A4"/>
          </p15:clr>
        </p15:guide>
        <p15:guide id="3" pos="7200" userDrawn="1">
          <p15:clr>
            <a:srgbClr val="A4A3A4"/>
          </p15:clr>
        </p15:guide>
        <p15:guide id="4" pos="4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78AF"/>
    <a:srgbClr val="0AB6F5"/>
    <a:srgbClr val="00D0A3"/>
    <a:srgbClr val="D1B613"/>
    <a:srgbClr val="C4C4C4"/>
    <a:srgbClr val="204ECF"/>
    <a:srgbClr val="204ECE"/>
    <a:srgbClr val="0AB5F4"/>
    <a:srgbClr val="E23042"/>
    <a:srgbClr val="E13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4" autoAdjust="0"/>
    <p:restoredTop sz="94724" autoAdjust="0"/>
  </p:normalViewPr>
  <p:slideViewPr>
    <p:cSldViewPr snapToGrid="0">
      <p:cViewPr varScale="1">
        <p:scale>
          <a:sx n="105" d="100"/>
          <a:sy n="105" d="100"/>
        </p:scale>
        <p:origin x="1008" y="96"/>
      </p:cViewPr>
      <p:guideLst>
        <p:guide orient="horz" pos="2160"/>
        <p:guide pos="480"/>
        <p:guide pos="7200"/>
        <p:guide pos="43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4" d="100"/>
        <a:sy n="9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‹Nº›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A4671F7-4D2C-4B1E-AED7-24676BE8B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7842D7-C728-4EBD-982B-B8BE79E4DBBE}" type="slidenum">
              <a:rPr lang="en-US" altLang="en-US"/>
              <a:pPr eaLnBrk="1" hangingPunct="1"/>
              <a:t>1</a:t>
            </a:fld>
            <a:endParaRPr lang="en-US" altLang="en-US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8E83BD0-7AE4-4323-9047-FC368929C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DECF5EC-C5EC-4723-8F4F-A75A2001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4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CF5191-0569-4DC4-91C0-32BE2B3AB9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7964CB-E75A-4A03-88D3-6A48EF650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2012" y="2766219"/>
            <a:ext cx="6220101" cy="1325563"/>
          </a:xfrm>
          <a:prstGeom prst="rect">
            <a:avLst/>
          </a:prstGeom>
        </p:spPr>
        <p:txBody>
          <a:bodyPr anchor="ctr"/>
          <a:lstStyle>
            <a:lvl1pPr>
              <a:defRPr b="1"/>
            </a:lvl1pPr>
          </a:lstStyle>
          <a:p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44067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340929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8FD53BA4-73D2-4CCA-8580-11F4221524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White Striped background">
            <a:extLst>
              <a:ext uri="{FF2B5EF4-FFF2-40B4-BE49-F238E27FC236}">
                <a16:creationId xmlns:a16="http://schemas.microsoft.com/office/drawing/2014/main" id="{3917D528-010E-4303-97BF-F7F67BC66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4088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983" y="310718"/>
            <a:ext cx="11496583" cy="523783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80F473D-F2DF-4163-AB6E-F7327F60EC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984" y="958788"/>
            <a:ext cx="11496583" cy="48116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7" name="Picture Placeholder 5" descr="Red, blue grey white pattern background">
            <a:extLst>
              <a:ext uri="{FF2B5EF4-FFF2-40B4-BE49-F238E27FC236}">
                <a16:creationId xmlns:a16="http://schemas.microsoft.com/office/drawing/2014/main" id="{CD2D4C14-919B-45F8-8FB9-55AAC8A8FC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0252"/>
            <a:ext cx="12192000" cy="8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1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6" descr="Red, blue grey white pattern background">
            <a:extLst>
              <a:ext uri="{FF2B5EF4-FFF2-40B4-BE49-F238E27FC236}">
                <a16:creationId xmlns:a16="http://schemas.microsoft.com/office/drawing/2014/main" id="{3A82D859-AED3-485F-A04E-40320B1043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7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739" y="351980"/>
            <a:ext cx="11452193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32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DF03C311-DDF4-44A3-9D51-D5FDC4A8E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740" y="1162976"/>
            <a:ext cx="11452194" cy="46252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9" name="Picture Placeholder 8" descr="Red, blue grey white pattern background">
            <a:extLst>
              <a:ext uri="{FF2B5EF4-FFF2-40B4-BE49-F238E27FC236}">
                <a16:creationId xmlns:a16="http://schemas.microsoft.com/office/drawing/2014/main" id="{EFDBB6A3-9760-4B41-9E31-6D5DD396E1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26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F45076F-4240-4B40-8CE4-637DD751A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>
              <a:lnSpc>
                <a:spcPct val="100000"/>
              </a:lnSpc>
              <a:spcBef>
                <a:spcPts val="1000"/>
              </a:spcBef>
              <a:defRPr sz="1800"/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89E410BA-B0FE-4F0E-8BE5-D33CC0166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3305541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1" name="Picture Placeholder 5" descr="Red, blue grey white pattern background">
            <a:extLst>
              <a:ext uri="{FF2B5EF4-FFF2-40B4-BE49-F238E27FC236}">
                <a16:creationId xmlns:a16="http://schemas.microsoft.com/office/drawing/2014/main" id="{1014381E-E235-4624-9267-69EEEE9826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80922"/>
            <a:ext cx="12192000" cy="87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80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 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6696C96D-182E-490E-A117-B60FF18536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2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Picture placeholder ">
            <a:extLst>
              <a:ext uri="{FF2B5EF4-FFF2-40B4-BE49-F238E27FC236}">
                <a16:creationId xmlns:a16="http://schemas.microsoft.com/office/drawing/2014/main" id="{21F9B252-B7D4-4DA8-92E8-8A98BFEF41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410071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724906-4405-47F4-B533-7291B003B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EEF53A4-35A6-4E43-B220-67DA381C5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906BF34F-6945-4E11-BAEC-F66F7254C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2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BC85C715-EF0D-4E33-AC89-C35DD2596E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7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90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9" r:id="rId2"/>
    <p:sldLayoutId id="2147483700" r:id="rId3"/>
    <p:sldLayoutId id="2147483691" r:id="rId4"/>
    <p:sldLayoutId id="2147483701" r:id="rId5"/>
    <p:sldLayoutId id="2147483706" r:id="rId6"/>
    <p:sldLayoutId id="2147483702" r:id="rId7"/>
    <p:sldLayoutId id="2147483704" r:id="rId8"/>
    <p:sldLayoutId id="2147483703" r:id="rId9"/>
    <p:sldLayoutId id="2147483690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D2DB031-9003-4F74-A88F-FE2A2ABAB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42012" y="2766219"/>
            <a:ext cx="6220101" cy="1325563"/>
          </a:xfrm>
        </p:spPr>
        <p:txBody>
          <a:bodyPr anchor="ctr">
            <a:noAutofit/>
          </a:bodyPr>
          <a:lstStyle/>
          <a:p>
            <a:r>
              <a:rPr lang="es-PE" altLang="en-US" sz="2800" dirty="0"/>
              <a:t>Sistema de Honorarios Médicos</a:t>
            </a:r>
            <a:br>
              <a:rPr lang="es-PE" altLang="en-US" sz="2800" dirty="0"/>
            </a:br>
            <a:r>
              <a:rPr lang="es-PE" altLang="en-US" sz="2800" dirty="0"/>
              <a:t>Integraciones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F15BFF3-36E1-4483-B185-1E7DD12F5691}"/>
              </a:ext>
            </a:extLst>
          </p:cNvPr>
          <p:cNvSpPr txBox="1"/>
          <p:nvPr/>
        </p:nvSpPr>
        <p:spPr>
          <a:xfrm>
            <a:off x="6877620" y="4181436"/>
            <a:ext cx="2646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600" b="1" dirty="0">
                <a:solidFill>
                  <a:schemeClr val="bg1"/>
                </a:solidFill>
              </a:rPr>
              <a:t>Despliegue</a:t>
            </a:r>
          </a:p>
        </p:txBody>
      </p:sp>
      <p:pic>
        <p:nvPicPr>
          <p:cNvPr id="7" name="Imagen 4">
            <a:extLst>
              <a:ext uri="{FF2B5EF4-FFF2-40B4-BE49-F238E27FC236}">
                <a16:creationId xmlns:a16="http://schemas.microsoft.com/office/drawing/2014/main" id="{6E491026-4823-6119-500C-F1C3F0461A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507" y="1351690"/>
            <a:ext cx="2731110" cy="89561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4D0AA59-DD85-5FAC-8585-EC85A6324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8405" y="5771184"/>
            <a:ext cx="2553708" cy="79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26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ángulo 57">
            <a:extLst>
              <a:ext uri="{FF2B5EF4-FFF2-40B4-BE49-F238E27FC236}">
                <a16:creationId xmlns:a16="http://schemas.microsoft.com/office/drawing/2014/main" id="{43B13A40-A431-0F49-6529-81F3255A6FD7}"/>
              </a:ext>
            </a:extLst>
          </p:cNvPr>
          <p:cNvSpPr/>
          <p:nvPr/>
        </p:nvSpPr>
        <p:spPr>
          <a:xfrm>
            <a:off x="4025660" y="2457486"/>
            <a:ext cx="4140680" cy="638355"/>
          </a:xfrm>
          <a:prstGeom prst="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bg1"/>
                </a:solidFill>
              </a:rPr>
              <a:t>HHMM</a:t>
            </a:r>
            <a:endParaRPr lang="es-PE" sz="1600" dirty="0">
              <a:solidFill>
                <a:schemeClr val="bg1"/>
              </a:solidFill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31623742-4151-6EC1-CD7F-7887FE220560}"/>
              </a:ext>
            </a:extLst>
          </p:cNvPr>
          <p:cNvSpPr/>
          <p:nvPr/>
        </p:nvSpPr>
        <p:spPr>
          <a:xfrm>
            <a:off x="1361248" y="4849941"/>
            <a:ext cx="4107371" cy="73866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AEE6E65D-B76A-8872-DFE0-0994B6BF61C2}"/>
              </a:ext>
            </a:extLst>
          </p:cNvPr>
          <p:cNvSpPr/>
          <p:nvPr/>
        </p:nvSpPr>
        <p:spPr>
          <a:xfrm>
            <a:off x="2796875" y="3512355"/>
            <a:ext cx="629728" cy="603848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API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(1)</a:t>
            </a:r>
            <a:endParaRPr lang="es-PE" sz="1400" dirty="0">
              <a:solidFill>
                <a:schemeClr val="bg1"/>
              </a:solidFill>
            </a:endParaRPr>
          </a:p>
        </p:txBody>
      </p:sp>
      <p:cxnSp>
        <p:nvCxnSpPr>
          <p:cNvPr id="61" name="Conector: angular 60">
            <a:extLst>
              <a:ext uri="{FF2B5EF4-FFF2-40B4-BE49-F238E27FC236}">
                <a16:creationId xmlns:a16="http://schemas.microsoft.com/office/drawing/2014/main" id="{3A62AD01-4264-B1BB-9D0F-A95759B03C73}"/>
              </a:ext>
            </a:extLst>
          </p:cNvPr>
          <p:cNvCxnSpPr>
            <a:cxnSpLocks/>
            <a:endCxn id="60" idx="0"/>
          </p:cNvCxnSpPr>
          <p:nvPr/>
        </p:nvCxnSpPr>
        <p:spPr>
          <a:xfrm rot="10800000" flipV="1">
            <a:off x="3111740" y="2847817"/>
            <a:ext cx="904845" cy="664538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: angular 61">
            <a:extLst>
              <a:ext uri="{FF2B5EF4-FFF2-40B4-BE49-F238E27FC236}">
                <a16:creationId xmlns:a16="http://schemas.microsoft.com/office/drawing/2014/main" id="{0D362691-AB4E-FC84-E1F8-787486FAA8FF}"/>
              </a:ext>
            </a:extLst>
          </p:cNvPr>
          <p:cNvCxnSpPr>
            <a:cxnSpLocks/>
            <a:stCxn id="60" idx="4"/>
            <a:endCxn id="59" idx="0"/>
          </p:cNvCxnSpPr>
          <p:nvPr/>
        </p:nvCxnSpPr>
        <p:spPr>
          <a:xfrm rot="16200000" flipH="1">
            <a:off x="2896467" y="4331474"/>
            <a:ext cx="733738" cy="303195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CuadroTexto 62">
            <a:extLst>
              <a:ext uri="{FF2B5EF4-FFF2-40B4-BE49-F238E27FC236}">
                <a16:creationId xmlns:a16="http://schemas.microsoft.com/office/drawing/2014/main" id="{F45DECCA-8854-85C6-D500-9C24B005EA44}"/>
              </a:ext>
            </a:extLst>
          </p:cNvPr>
          <p:cNvSpPr txBox="1"/>
          <p:nvPr/>
        </p:nvSpPr>
        <p:spPr>
          <a:xfrm>
            <a:off x="3470162" y="3479157"/>
            <a:ext cx="129301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100" dirty="0">
                <a:solidFill>
                  <a:schemeClr val="bg1"/>
                </a:solidFill>
              </a:rPr>
              <a:t>1) Envío de datos de Producción (Lista)</a:t>
            </a: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610732F1-A78E-8C97-298E-68057C1D9D6C}"/>
              </a:ext>
            </a:extLst>
          </p:cNvPr>
          <p:cNvSpPr/>
          <p:nvPr/>
        </p:nvSpPr>
        <p:spPr>
          <a:xfrm>
            <a:off x="5579575" y="3962038"/>
            <a:ext cx="629728" cy="603848"/>
          </a:xfrm>
          <a:prstGeom prst="ellips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es-ES" sz="1400" dirty="0">
                <a:solidFill>
                  <a:schemeClr val="tx1"/>
                </a:solidFill>
              </a:rPr>
              <a:t>(3)</a:t>
            </a:r>
            <a:endParaRPr lang="es-PE" sz="1400" dirty="0">
              <a:solidFill>
                <a:schemeClr val="tx1"/>
              </a:solidFill>
            </a:endParaRPr>
          </a:p>
        </p:txBody>
      </p:sp>
      <p:cxnSp>
        <p:nvCxnSpPr>
          <p:cNvPr id="65" name="Conector: angular 64">
            <a:extLst>
              <a:ext uri="{FF2B5EF4-FFF2-40B4-BE49-F238E27FC236}">
                <a16:creationId xmlns:a16="http://schemas.microsoft.com/office/drawing/2014/main" id="{2DE5E597-16B9-BF22-C73F-481E06FC1A15}"/>
              </a:ext>
            </a:extLst>
          </p:cNvPr>
          <p:cNvCxnSpPr>
            <a:cxnSpLocks/>
            <a:stCxn id="64" idx="0"/>
            <a:endCxn id="94" idx="2"/>
          </p:cNvCxnSpPr>
          <p:nvPr/>
        </p:nvCxnSpPr>
        <p:spPr>
          <a:xfrm rot="5400000" flipH="1" flipV="1">
            <a:off x="5554820" y="3294553"/>
            <a:ext cx="1007104" cy="32786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ctor: angular 65">
            <a:extLst>
              <a:ext uri="{FF2B5EF4-FFF2-40B4-BE49-F238E27FC236}">
                <a16:creationId xmlns:a16="http://schemas.microsoft.com/office/drawing/2014/main" id="{FAE5C2F9-F92F-85F6-0AD2-EC58CBD45E5E}"/>
              </a:ext>
            </a:extLst>
          </p:cNvPr>
          <p:cNvCxnSpPr>
            <a:cxnSpLocks/>
            <a:stCxn id="59" idx="3"/>
            <a:endCxn id="64" idx="4"/>
          </p:cNvCxnSpPr>
          <p:nvPr/>
        </p:nvCxnSpPr>
        <p:spPr>
          <a:xfrm flipV="1">
            <a:off x="5468619" y="4565886"/>
            <a:ext cx="425820" cy="65338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uadroTexto 66">
            <a:extLst>
              <a:ext uri="{FF2B5EF4-FFF2-40B4-BE49-F238E27FC236}">
                <a16:creationId xmlns:a16="http://schemas.microsoft.com/office/drawing/2014/main" id="{A24BB243-087F-7C1E-2AF5-E5A75ADA37EB}"/>
              </a:ext>
            </a:extLst>
          </p:cNvPr>
          <p:cNvSpPr txBox="1"/>
          <p:nvPr/>
        </p:nvSpPr>
        <p:spPr>
          <a:xfrm>
            <a:off x="6323601" y="3899749"/>
            <a:ext cx="96256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PE"/>
            </a:defPPr>
            <a:lvl1pPr>
              <a:defRPr sz="1100"/>
            </a:lvl1pPr>
          </a:lstStyle>
          <a:p>
            <a:r>
              <a:rPr lang="es-PE" dirty="0">
                <a:solidFill>
                  <a:schemeClr val="bg1"/>
                </a:solidFill>
              </a:rPr>
              <a:t>3) Envío de Facturas</a:t>
            </a:r>
          </a:p>
          <a:p>
            <a:r>
              <a:rPr lang="es-PE" dirty="0">
                <a:solidFill>
                  <a:schemeClr val="bg1"/>
                </a:solidFill>
              </a:rPr>
              <a:t>(Lista)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DB91F166-1B12-0161-4277-8E6538F95435}"/>
              </a:ext>
            </a:extLst>
          </p:cNvPr>
          <p:cNvSpPr txBox="1"/>
          <p:nvPr/>
        </p:nvSpPr>
        <p:spPr>
          <a:xfrm>
            <a:off x="6896726" y="884136"/>
            <a:ext cx="1995577" cy="461665"/>
          </a:xfrm>
          <a:prstGeom prst="rect">
            <a:avLst/>
          </a:prstGeom>
          <a:solidFill>
            <a:srgbClr val="0AB6F5"/>
          </a:solidFill>
          <a:ln>
            <a:solidFill>
              <a:srgbClr val="0AB6F5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solidFill>
                  <a:schemeClr val="bg1"/>
                </a:solidFill>
              </a:rPr>
              <a:t>Registro de Facturas en SAP</a:t>
            </a:r>
            <a:endParaRPr lang="es-PE" sz="1200" dirty="0">
              <a:solidFill>
                <a:schemeClr val="bg1"/>
              </a:solidFill>
            </a:endParaRPr>
          </a:p>
        </p:txBody>
      </p:sp>
      <p:cxnSp>
        <p:nvCxnSpPr>
          <p:cNvPr id="71" name="Conector: angular 70">
            <a:extLst>
              <a:ext uri="{FF2B5EF4-FFF2-40B4-BE49-F238E27FC236}">
                <a16:creationId xmlns:a16="http://schemas.microsoft.com/office/drawing/2014/main" id="{7D0C3193-14DC-32E6-B4FF-AE9FA821D640}"/>
              </a:ext>
            </a:extLst>
          </p:cNvPr>
          <p:cNvCxnSpPr>
            <a:cxnSpLocks/>
            <a:stCxn id="58" idx="0"/>
            <a:endCxn id="70" idx="2"/>
          </p:cNvCxnSpPr>
          <p:nvPr/>
        </p:nvCxnSpPr>
        <p:spPr>
          <a:xfrm rot="5400000" flipH="1" flipV="1">
            <a:off x="6439415" y="1002387"/>
            <a:ext cx="1111685" cy="1798515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ángulo 72">
            <a:extLst>
              <a:ext uri="{FF2B5EF4-FFF2-40B4-BE49-F238E27FC236}">
                <a16:creationId xmlns:a16="http://schemas.microsoft.com/office/drawing/2014/main" id="{48B3CA84-CA14-4565-418F-13A63421FB08}"/>
              </a:ext>
            </a:extLst>
          </p:cNvPr>
          <p:cNvSpPr/>
          <p:nvPr/>
        </p:nvSpPr>
        <p:spPr>
          <a:xfrm>
            <a:off x="4172308" y="2583999"/>
            <a:ext cx="1289650" cy="370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Producción</a:t>
            </a:r>
            <a:endParaRPr lang="es-PE" sz="1400" dirty="0">
              <a:solidFill>
                <a:schemeClr val="bg1"/>
              </a:solidFill>
            </a:endParaRPr>
          </a:p>
        </p:txBody>
      </p: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765F99B9-5A33-CAF5-0F69-D0E32F3CD597}"/>
              </a:ext>
            </a:extLst>
          </p:cNvPr>
          <p:cNvCxnSpPr>
            <a:cxnSpLocks/>
            <a:stCxn id="70" idx="3"/>
            <a:endCxn id="77" idx="1"/>
          </p:cNvCxnSpPr>
          <p:nvPr/>
        </p:nvCxnSpPr>
        <p:spPr>
          <a:xfrm flipV="1">
            <a:off x="8892303" y="1113567"/>
            <a:ext cx="814582" cy="1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CuadroTexto 76">
            <a:extLst>
              <a:ext uri="{FF2B5EF4-FFF2-40B4-BE49-F238E27FC236}">
                <a16:creationId xmlns:a16="http://schemas.microsoft.com/office/drawing/2014/main" id="{B00F8A01-419A-5AA6-17A1-45C045A23812}"/>
              </a:ext>
            </a:extLst>
          </p:cNvPr>
          <p:cNvSpPr txBox="1"/>
          <p:nvPr/>
        </p:nvSpPr>
        <p:spPr>
          <a:xfrm>
            <a:off x="9706885" y="928901"/>
            <a:ext cx="1146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Tesorería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78" name="Diagrama de flujo: conector 77">
            <a:extLst>
              <a:ext uri="{FF2B5EF4-FFF2-40B4-BE49-F238E27FC236}">
                <a16:creationId xmlns:a16="http://schemas.microsoft.com/office/drawing/2014/main" id="{649FE542-F18E-9C47-2D74-B81E76D9C29D}"/>
              </a:ext>
            </a:extLst>
          </p:cNvPr>
          <p:cNvSpPr/>
          <p:nvPr/>
        </p:nvSpPr>
        <p:spPr>
          <a:xfrm>
            <a:off x="500625" y="3473734"/>
            <a:ext cx="601019" cy="573270"/>
          </a:xfrm>
          <a:prstGeom prst="flowChartConnector">
            <a:avLst/>
          </a:prstGeom>
          <a:solidFill>
            <a:srgbClr val="0AB6F5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es-ES" sz="1200" dirty="0">
                <a:solidFill>
                  <a:schemeClr val="tx1"/>
                </a:solidFill>
              </a:rPr>
              <a:t>(5)</a:t>
            </a:r>
            <a:endParaRPr lang="es-PE" sz="1200" dirty="0">
              <a:solidFill>
                <a:schemeClr val="tx1"/>
              </a:solidFill>
            </a:endParaRPr>
          </a:p>
        </p:txBody>
      </p:sp>
      <p:cxnSp>
        <p:nvCxnSpPr>
          <p:cNvPr id="79" name="Conector: angular 78">
            <a:extLst>
              <a:ext uri="{FF2B5EF4-FFF2-40B4-BE49-F238E27FC236}">
                <a16:creationId xmlns:a16="http://schemas.microsoft.com/office/drawing/2014/main" id="{94F1411D-223B-2CFA-542D-5FA90E837F83}"/>
              </a:ext>
            </a:extLst>
          </p:cNvPr>
          <p:cNvCxnSpPr>
            <a:cxnSpLocks/>
            <a:stCxn id="78" idx="4"/>
            <a:endCxn id="59" idx="1"/>
          </p:cNvCxnSpPr>
          <p:nvPr/>
        </p:nvCxnSpPr>
        <p:spPr>
          <a:xfrm rot="16200000" flipH="1">
            <a:off x="495057" y="4353081"/>
            <a:ext cx="1172269" cy="560113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3C4D3B5A-9631-5CCF-202B-204AF49DD052}"/>
              </a:ext>
            </a:extLst>
          </p:cNvPr>
          <p:cNvSpPr/>
          <p:nvPr/>
        </p:nvSpPr>
        <p:spPr>
          <a:xfrm>
            <a:off x="343934" y="1207302"/>
            <a:ext cx="914400" cy="914400"/>
          </a:xfrm>
          <a:prstGeom prst="rect">
            <a:avLst/>
          </a:prstGeom>
          <a:solidFill>
            <a:srgbClr val="0AB6F5"/>
          </a:solidFill>
          <a:ln>
            <a:solidFill>
              <a:srgbClr val="0AB6F5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SAP</a:t>
            </a:r>
            <a:endParaRPr lang="es-PE" dirty="0">
              <a:solidFill>
                <a:schemeClr val="bg1"/>
              </a:solidFill>
            </a:endParaRPr>
          </a:p>
        </p:txBody>
      </p: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C893C1BB-3A6A-07C0-6836-32C2AE970BE4}"/>
              </a:ext>
            </a:extLst>
          </p:cNvPr>
          <p:cNvCxnSpPr>
            <a:stCxn id="80" idx="2"/>
            <a:endCxn id="78" idx="0"/>
          </p:cNvCxnSpPr>
          <p:nvPr/>
        </p:nvCxnSpPr>
        <p:spPr>
          <a:xfrm>
            <a:off x="801134" y="2121702"/>
            <a:ext cx="1" cy="135203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CuadroTexto 81">
            <a:extLst>
              <a:ext uri="{FF2B5EF4-FFF2-40B4-BE49-F238E27FC236}">
                <a16:creationId xmlns:a16="http://schemas.microsoft.com/office/drawing/2014/main" id="{41B4AC51-F214-4525-E2D6-9A67DB659F7E}"/>
              </a:ext>
            </a:extLst>
          </p:cNvPr>
          <p:cNvSpPr txBox="1"/>
          <p:nvPr/>
        </p:nvSpPr>
        <p:spPr>
          <a:xfrm>
            <a:off x="826604" y="2281599"/>
            <a:ext cx="11056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>
                <a:solidFill>
                  <a:schemeClr val="bg1"/>
                </a:solidFill>
              </a:rPr>
              <a:t>5) Consulta Cuenta Corriente del Acreedor</a:t>
            </a:r>
            <a:endParaRPr lang="es-PE" sz="1050" dirty="0">
              <a:solidFill>
                <a:schemeClr val="bg1"/>
              </a:solidFill>
            </a:endParaRPr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821753E6-D12B-C482-C41A-0F83808C116D}"/>
              </a:ext>
            </a:extLst>
          </p:cNvPr>
          <p:cNvSpPr/>
          <p:nvPr/>
        </p:nvSpPr>
        <p:spPr>
          <a:xfrm>
            <a:off x="1869100" y="3488959"/>
            <a:ext cx="629728" cy="603848"/>
          </a:xfrm>
          <a:prstGeom prst="ellips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es-ES" sz="1400" dirty="0">
                <a:solidFill>
                  <a:schemeClr val="tx1"/>
                </a:solidFill>
              </a:rPr>
              <a:t>(2)</a:t>
            </a:r>
            <a:endParaRPr lang="es-PE" sz="1400" dirty="0">
              <a:solidFill>
                <a:schemeClr val="tx1"/>
              </a:solidFill>
            </a:endParaRPr>
          </a:p>
        </p:txBody>
      </p:sp>
      <p:cxnSp>
        <p:nvCxnSpPr>
          <p:cNvPr id="84" name="Conector: angular 83">
            <a:extLst>
              <a:ext uri="{FF2B5EF4-FFF2-40B4-BE49-F238E27FC236}">
                <a16:creationId xmlns:a16="http://schemas.microsoft.com/office/drawing/2014/main" id="{3B810419-FDF5-981A-9AEC-C13DE2D84295}"/>
              </a:ext>
            </a:extLst>
          </p:cNvPr>
          <p:cNvCxnSpPr>
            <a:cxnSpLocks/>
            <a:stCxn id="58" idx="1"/>
            <a:endCxn id="83" idx="0"/>
          </p:cNvCxnSpPr>
          <p:nvPr/>
        </p:nvCxnSpPr>
        <p:spPr>
          <a:xfrm rot="10800000" flipV="1">
            <a:off x="2183964" y="2776663"/>
            <a:ext cx="1841696" cy="712295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EA35D0CA-39B5-C198-27D1-3B30E38B3350}"/>
              </a:ext>
            </a:extLst>
          </p:cNvPr>
          <p:cNvCxnSpPr>
            <a:cxnSpLocks/>
            <a:stCxn id="83" idx="4"/>
          </p:cNvCxnSpPr>
          <p:nvPr/>
        </p:nvCxnSpPr>
        <p:spPr>
          <a:xfrm flipH="1">
            <a:off x="2177643" y="4092807"/>
            <a:ext cx="6321" cy="73373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870341D6-7F9F-2D49-AD90-F0343775FF87}"/>
              </a:ext>
            </a:extLst>
          </p:cNvPr>
          <p:cNvSpPr txBox="1"/>
          <p:nvPr/>
        </p:nvSpPr>
        <p:spPr>
          <a:xfrm>
            <a:off x="2137481" y="2278012"/>
            <a:ext cx="12028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100" dirty="0">
                <a:solidFill>
                  <a:schemeClr val="bg1"/>
                </a:solidFill>
              </a:rPr>
              <a:t>2) Datos Maestros (Lista)</a:t>
            </a:r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1B3A0EA2-15EA-C01D-D4B8-FE5588CA9524}"/>
              </a:ext>
            </a:extLst>
          </p:cNvPr>
          <p:cNvSpPr/>
          <p:nvPr/>
        </p:nvSpPr>
        <p:spPr>
          <a:xfrm>
            <a:off x="5632331" y="2583999"/>
            <a:ext cx="1179949" cy="370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Factura</a:t>
            </a:r>
            <a:endParaRPr lang="es-PE" sz="1400" dirty="0">
              <a:solidFill>
                <a:schemeClr val="bg1"/>
              </a:solidFill>
            </a:endParaRP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1D8D352B-0B72-E653-5174-4C57D406CDA8}"/>
              </a:ext>
            </a:extLst>
          </p:cNvPr>
          <p:cNvSpPr txBox="1"/>
          <p:nvPr/>
        </p:nvSpPr>
        <p:spPr>
          <a:xfrm>
            <a:off x="7342251" y="2114355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7030A0"/>
                </a:solidFill>
              </a:rPr>
              <a:t>HHMM</a:t>
            </a:r>
            <a:endParaRPr lang="es-PE" dirty="0">
              <a:solidFill>
                <a:srgbClr val="7030A0"/>
              </a:solidFill>
            </a:endParaRPr>
          </a:p>
        </p:txBody>
      </p: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EE2EC801-F0ED-B4C5-2B31-BAAB4635BD9A}"/>
              </a:ext>
            </a:extLst>
          </p:cNvPr>
          <p:cNvSpPr/>
          <p:nvPr/>
        </p:nvSpPr>
        <p:spPr>
          <a:xfrm>
            <a:off x="1776211" y="5047944"/>
            <a:ext cx="2974250" cy="382448"/>
          </a:xfrm>
          <a:prstGeom prst="rect">
            <a:avLst/>
          </a:prstGeom>
          <a:solidFill>
            <a:srgbClr val="D1B61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Producción</a:t>
            </a:r>
            <a:endParaRPr lang="es-PE" sz="1400" dirty="0">
              <a:solidFill>
                <a:schemeClr val="bg1"/>
              </a:solidFill>
            </a:endParaRPr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213EBD1E-DE52-E3A6-DAF5-9F9ADF9227AD}"/>
              </a:ext>
            </a:extLst>
          </p:cNvPr>
          <p:cNvSpPr txBox="1"/>
          <p:nvPr/>
        </p:nvSpPr>
        <p:spPr>
          <a:xfrm>
            <a:off x="1326705" y="5597649"/>
            <a:ext cx="20136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FFC000"/>
                </a:solidFill>
              </a:rPr>
              <a:t>ADG-SHM (</a:t>
            </a:r>
            <a:r>
              <a:rPr lang="es-ES" sz="1400" b="1" dirty="0" err="1">
                <a:solidFill>
                  <a:srgbClr val="FFC000"/>
                </a:solidFill>
              </a:rPr>
              <a:t>Workflow</a:t>
            </a:r>
            <a:r>
              <a:rPr lang="es-ES" sz="1400" b="1" dirty="0">
                <a:solidFill>
                  <a:srgbClr val="FFC000"/>
                </a:solidFill>
              </a:rPr>
              <a:t>)</a:t>
            </a:r>
            <a:endParaRPr lang="es-PE" sz="1400" b="1" dirty="0">
              <a:solidFill>
                <a:srgbClr val="FFC000"/>
              </a:solidFill>
            </a:endParaRPr>
          </a:p>
        </p:txBody>
      </p:sp>
      <p:sp>
        <p:nvSpPr>
          <p:cNvPr id="148" name="Título 147">
            <a:extLst>
              <a:ext uri="{FF2B5EF4-FFF2-40B4-BE49-F238E27FC236}">
                <a16:creationId xmlns:a16="http://schemas.microsoft.com/office/drawing/2014/main" id="{81200F85-89B8-2771-F236-BE046F471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Fase 1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4757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ángulo 57">
            <a:extLst>
              <a:ext uri="{FF2B5EF4-FFF2-40B4-BE49-F238E27FC236}">
                <a16:creationId xmlns:a16="http://schemas.microsoft.com/office/drawing/2014/main" id="{43B13A40-A431-0F49-6529-81F3255A6FD7}"/>
              </a:ext>
            </a:extLst>
          </p:cNvPr>
          <p:cNvSpPr/>
          <p:nvPr/>
        </p:nvSpPr>
        <p:spPr>
          <a:xfrm>
            <a:off x="2270012" y="1912168"/>
            <a:ext cx="4140680" cy="638355"/>
          </a:xfrm>
          <a:prstGeom prst="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bg1"/>
                </a:solidFill>
              </a:rPr>
              <a:t>HHMM</a:t>
            </a:r>
            <a:endParaRPr lang="es-PE" sz="1600" dirty="0">
              <a:solidFill>
                <a:schemeClr val="bg1"/>
              </a:solidFill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31623742-4151-6EC1-CD7F-7887FE220560}"/>
              </a:ext>
            </a:extLst>
          </p:cNvPr>
          <p:cNvSpPr/>
          <p:nvPr/>
        </p:nvSpPr>
        <p:spPr>
          <a:xfrm>
            <a:off x="1361248" y="4555015"/>
            <a:ext cx="8651432" cy="118941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82FA946B-5372-E787-9EB5-0AF276011454}"/>
              </a:ext>
            </a:extLst>
          </p:cNvPr>
          <p:cNvSpPr/>
          <p:nvPr/>
        </p:nvSpPr>
        <p:spPr>
          <a:xfrm>
            <a:off x="5585755" y="3339013"/>
            <a:ext cx="629728" cy="603848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API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(4)</a:t>
            </a:r>
            <a:endParaRPr lang="es-PE" sz="1400" dirty="0">
              <a:solidFill>
                <a:schemeClr val="bg1"/>
              </a:solidFill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8F6CE24F-01DC-1098-67E7-2923EDC4A4C1}"/>
              </a:ext>
            </a:extLst>
          </p:cNvPr>
          <p:cNvSpPr txBox="1"/>
          <p:nvPr/>
        </p:nvSpPr>
        <p:spPr>
          <a:xfrm>
            <a:off x="6351622" y="3314876"/>
            <a:ext cx="131304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100" dirty="0">
                <a:solidFill>
                  <a:schemeClr val="bg1"/>
                </a:solidFill>
              </a:rPr>
              <a:t>4) Envío de datos de Liquidación (Lista)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7847DD6F-7F1E-0B7B-5B5D-B78384E1C081}"/>
              </a:ext>
            </a:extLst>
          </p:cNvPr>
          <p:cNvSpPr/>
          <p:nvPr/>
        </p:nvSpPr>
        <p:spPr>
          <a:xfrm>
            <a:off x="4977268" y="2038680"/>
            <a:ext cx="1289650" cy="370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Liquidación</a:t>
            </a:r>
            <a:endParaRPr lang="es-PE" sz="1400" dirty="0">
              <a:solidFill>
                <a:schemeClr val="bg1"/>
              </a:solidFill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48B3CA84-CA14-4565-418F-13A63421FB08}"/>
              </a:ext>
            </a:extLst>
          </p:cNvPr>
          <p:cNvSpPr/>
          <p:nvPr/>
        </p:nvSpPr>
        <p:spPr>
          <a:xfrm>
            <a:off x="2416660" y="2038681"/>
            <a:ext cx="1289650" cy="370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Producción</a:t>
            </a:r>
            <a:endParaRPr lang="es-PE" sz="1400" dirty="0">
              <a:solidFill>
                <a:schemeClr val="bg1"/>
              </a:solidFill>
            </a:endParaRPr>
          </a:p>
        </p:txBody>
      </p: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154A1B40-2F19-F59D-583E-375E5FE6D5E5}"/>
              </a:ext>
            </a:extLst>
          </p:cNvPr>
          <p:cNvCxnSpPr>
            <a:cxnSpLocks/>
            <a:stCxn id="72" idx="2"/>
            <a:endCxn id="68" idx="0"/>
          </p:cNvCxnSpPr>
          <p:nvPr/>
        </p:nvCxnSpPr>
        <p:spPr>
          <a:xfrm rot="16200000" flipH="1">
            <a:off x="5296657" y="2735051"/>
            <a:ext cx="929398" cy="278526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: angular 74">
            <a:extLst>
              <a:ext uri="{FF2B5EF4-FFF2-40B4-BE49-F238E27FC236}">
                <a16:creationId xmlns:a16="http://schemas.microsoft.com/office/drawing/2014/main" id="{DCC8BCAB-DD48-3B77-BFB3-C5963128F3C2}"/>
              </a:ext>
            </a:extLst>
          </p:cNvPr>
          <p:cNvCxnSpPr>
            <a:cxnSpLocks/>
            <a:stCxn id="68" idx="4"/>
            <a:endCxn id="126" idx="0"/>
          </p:cNvCxnSpPr>
          <p:nvPr/>
        </p:nvCxnSpPr>
        <p:spPr>
          <a:xfrm rot="5400000">
            <a:off x="4384369" y="3502095"/>
            <a:ext cx="1075484" cy="1957016"/>
          </a:xfrm>
          <a:prstGeom prst="bentConnector3">
            <a:avLst>
              <a:gd name="adj1" fmla="val 34696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765F99B9-5A33-CAF5-0F69-D0E32F3CD597}"/>
              </a:ext>
            </a:extLst>
          </p:cNvPr>
          <p:cNvCxnSpPr>
            <a:cxnSpLocks/>
            <a:endCxn id="77" idx="1"/>
          </p:cNvCxnSpPr>
          <p:nvPr/>
        </p:nvCxnSpPr>
        <p:spPr>
          <a:xfrm flipV="1">
            <a:off x="8892303" y="1113567"/>
            <a:ext cx="814582" cy="1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CuadroTexto 76">
            <a:extLst>
              <a:ext uri="{FF2B5EF4-FFF2-40B4-BE49-F238E27FC236}">
                <a16:creationId xmlns:a16="http://schemas.microsoft.com/office/drawing/2014/main" id="{B00F8A01-419A-5AA6-17A1-45C045A23812}"/>
              </a:ext>
            </a:extLst>
          </p:cNvPr>
          <p:cNvSpPr txBox="1"/>
          <p:nvPr/>
        </p:nvSpPr>
        <p:spPr>
          <a:xfrm>
            <a:off x="9706885" y="928901"/>
            <a:ext cx="1146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Tesorería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78" name="Diagrama de flujo: conector 77">
            <a:extLst>
              <a:ext uri="{FF2B5EF4-FFF2-40B4-BE49-F238E27FC236}">
                <a16:creationId xmlns:a16="http://schemas.microsoft.com/office/drawing/2014/main" id="{649FE542-F18E-9C47-2D74-B81E76D9C29D}"/>
              </a:ext>
            </a:extLst>
          </p:cNvPr>
          <p:cNvSpPr/>
          <p:nvPr/>
        </p:nvSpPr>
        <p:spPr>
          <a:xfrm>
            <a:off x="500625" y="3473734"/>
            <a:ext cx="601019" cy="573270"/>
          </a:xfrm>
          <a:prstGeom prst="flowChartConnector">
            <a:avLst/>
          </a:prstGeom>
          <a:solidFill>
            <a:srgbClr val="0AB6F5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es-ES" sz="1200" dirty="0">
                <a:solidFill>
                  <a:schemeClr val="tx1"/>
                </a:solidFill>
              </a:rPr>
              <a:t>(5)</a:t>
            </a:r>
            <a:endParaRPr lang="es-PE" sz="1200" dirty="0">
              <a:solidFill>
                <a:schemeClr val="tx1"/>
              </a:solidFill>
            </a:endParaRPr>
          </a:p>
        </p:txBody>
      </p:sp>
      <p:cxnSp>
        <p:nvCxnSpPr>
          <p:cNvPr id="79" name="Conector: angular 78">
            <a:extLst>
              <a:ext uri="{FF2B5EF4-FFF2-40B4-BE49-F238E27FC236}">
                <a16:creationId xmlns:a16="http://schemas.microsoft.com/office/drawing/2014/main" id="{94F1411D-223B-2CFA-542D-5FA90E837F83}"/>
              </a:ext>
            </a:extLst>
          </p:cNvPr>
          <p:cNvCxnSpPr>
            <a:cxnSpLocks/>
            <a:stCxn id="78" idx="4"/>
            <a:endCxn id="59" idx="1"/>
          </p:cNvCxnSpPr>
          <p:nvPr/>
        </p:nvCxnSpPr>
        <p:spPr>
          <a:xfrm rot="16200000" flipH="1">
            <a:off x="529831" y="4318307"/>
            <a:ext cx="1102720" cy="560113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3C4D3B5A-9631-5CCF-202B-204AF49DD052}"/>
              </a:ext>
            </a:extLst>
          </p:cNvPr>
          <p:cNvSpPr/>
          <p:nvPr/>
        </p:nvSpPr>
        <p:spPr>
          <a:xfrm>
            <a:off x="343934" y="1207302"/>
            <a:ext cx="914400" cy="914400"/>
          </a:xfrm>
          <a:prstGeom prst="rect">
            <a:avLst/>
          </a:prstGeom>
          <a:solidFill>
            <a:srgbClr val="0AB6F5"/>
          </a:solidFill>
          <a:ln>
            <a:solidFill>
              <a:srgbClr val="0AB6F5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SAP</a:t>
            </a:r>
            <a:endParaRPr lang="es-PE" dirty="0">
              <a:solidFill>
                <a:schemeClr val="bg1"/>
              </a:solidFill>
            </a:endParaRPr>
          </a:p>
        </p:txBody>
      </p: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C893C1BB-3A6A-07C0-6836-32C2AE970BE4}"/>
              </a:ext>
            </a:extLst>
          </p:cNvPr>
          <p:cNvCxnSpPr>
            <a:stCxn id="80" idx="2"/>
            <a:endCxn id="78" idx="0"/>
          </p:cNvCxnSpPr>
          <p:nvPr/>
        </p:nvCxnSpPr>
        <p:spPr>
          <a:xfrm>
            <a:off x="801134" y="2121702"/>
            <a:ext cx="1" cy="135203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CuadroTexto 81">
            <a:extLst>
              <a:ext uri="{FF2B5EF4-FFF2-40B4-BE49-F238E27FC236}">
                <a16:creationId xmlns:a16="http://schemas.microsoft.com/office/drawing/2014/main" id="{41B4AC51-F214-4525-E2D6-9A67DB659F7E}"/>
              </a:ext>
            </a:extLst>
          </p:cNvPr>
          <p:cNvSpPr txBox="1"/>
          <p:nvPr/>
        </p:nvSpPr>
        <p:spPr>
          <a:xfrm>
            <a:off x="826604" y="2281599"/>
            <a:ext cx="11056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>
                <a:solidFill>
                  <a:schemeClr val="bg1"/>
                </a:solidFill>
              </a:rPr>
              <a:t>5) Consulta Cuenta Corriente del Acreedor</a:t>
            </a:r>
            <a:endParaRPr lang="es-PE" sz="1050" dirty="0">
              <a:solidFill>
                <a:schemeClr val="bg1"/>
              </a:solidFill>
            </a:endParaRPr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1B3A0EA2-15EA-C01D-D4B8-FE5588CA9524}"/>
              </a:ext>
            </a:extLst>
          </p:cNvPr>
          <p:cNvSpPr/>
          <p:nvPr/>
        </p:nvSpPr>
        <p:spPr>
          <a:xfrm>
            <a:off x="3855111" y="2063453"/>
            <a:ext cx="927337" cy="34616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Factura</a:t>
            </a:r>
            <a:endParaRPr lang="es-PE" sz="1400" dirty="0">
              <a:solidFill>
                <a:schemeClr val="bg1"/>
              </a:solidFill>
            </a:endParaRP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1D8D352B-0B72-E653-5174-4C57D406CDA8}"/>
              </a:ext>
            </a:extLst>
          </p:cNvPr>
          <p:cNvSpPr txBox="1"/>
          <p:nvPr/>
        </p:nvSpPr>
        <p:spPr>
          <a:xfrm>
            <a:off x="5586603" y="1569037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7030A0"/>
                </a:solidFill>
              </a:rPr>
              <a:t>HHMM</a:t>
            </a:r>
            <a:endParaRPr lang="es-PE" dirty="0">
              <a:solidFill>
                <a:srgbClr val="7030A0"/>
              </a:solidFill>
            </a:endParaRPr>
          </a:p>
        </p:txBody>
      </p: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EE2EC801-F0ED-B4C5-2B31-BAAB4635BD9A}"/>
              </a:ext>
            </a:extLst>
          </p:cNvPr>
          <p:cNvSpPr/>
          <p:nvPr/>
        </p:nvSpPr>
        <p:spPr>
          <a:xfrm>
            <a:off x="1569118" y="5018345"/>
            <a:ext cx="1492367" cy="382448"/>
          </a:xfrm>
          <a:prstGeom prst="rect">
            <a:avLst/>
          </a:prstGeom>
          <a:solidFill>
            <a:srgbClr val="D1B61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Producción</a:t>
            </a:r>
            <a:endParaRPr lang="es-PE" sz="1400" dirty="0">
              <a:solidFill>
                <a:schemeClr val="bg1"/>
              </a:solidFill>
            </a:endParaRPr>
          </a:p>
        </p:txBody>
      </p:sp>
      <p:sp>
        <p:nvSpPr>
          <p:cNvPr id="126" name="Rectángulo 125">
            <a:extLst>
              <a:ext uri="{FF2B5EF4-FFF2-40B4-BE49-F238E27FC236}">
                <a16:creationId xmlns:a16="http://schemas.microsoft.com/office/drawing/2014/main" id="{BE16BD42-02D8-1D63-D78D-EC650E7273EB}"/>
              </a:ext>
            </a:extLst>
          </p:cNvPr>
          <p:cNvSpPr/>
          <p:nvPr/>
        </p:nvSpPr>
        <p:spPr>
          <a:xfrm>
            <a:off x="3197419" y="5018345"/>
            <a:ext cx="1492367" cy="382448"/>
          </a:xfrm>
          <a:prstGeom prst="rect">
            <a:avLst/>
          </a:prstGeom>
          <a:solidFill>
            <a:srgbClr val="D1B61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Liquidación</a:t>
            </a:r>
            <a:endParaRPr lang="es-PE" sz="1400" dirty="0">
              <a:solidFill>
                <a:schemeClr val="bg1"/>
              </a:solidFill>
            </a:endParaRPr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213EBD1E-DE52-E3A6-DAF5-9F9ADF9227AD}"/>
              </a:ext>
            </a:extLst>
          </p:cNvPr>
          <p:cNvSpPr txBox="1"/>
          <p:nvPr/>
        </p:nvSpPr>
        <p:spPr>
          <a:xfrm>
            <a:off x="1263198" y="5678405"/>
            <a:ext cx="20136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FFC000"/>
                </a:solidFill>
              </a:rPr>
              <a:t>ADG-SHM (</a:t>
            </a:r>
            <a:r>
              <a:rPr lang="es-ES" sz="1400" b="1" dirty="0" err="1">
                <a:solidFill>
                  <a:srgbClr val="FFC000"/>
                </a:solidFill>
              </a:rPr>
              <a:t>Workflow</a:t>
            </a:r>
            <a:r>
              <a:rPr lang="es-ES" sz="1400" b="1" dirty="0">
                <a:solidFill>
                  <a:srgbClr val="FFC000"/>
                </a:solidFill>
              </a:rPr>
              <a:t>)</a:t>
            </a:r>
            <a:endParaRPr lang="es-PE" sz="1400" b="1" dirty="0">
              <a:solidFill>
                <a:srgbClr val="FFC000"/>
              </a:solidFill>
            </a:endParaRPr>
          </a:p>
        </p:txBody>
      </p:sp>
      <p:sp>
        <p:nvSpPr>
          <p:cNvPr id="148" name="Título 147">
            <a:extLst>
              <a:ext uri="{FF2B5EF4-FFF2-40B4-BE49-F238E27FC236}">
                <a16:creationId xmlns:a16="http://schemas.microsoft.com/office/drawing/2014/main" id="{81200F85-89B8-2771-F236-BE046F471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Fase 2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59D991A-A01B-17E9-FB56-904E43E53FC6}"/>
              </a:ext>
            </a:extLst>
          </p:cNvPr>
          <p:cNvSpPr/>
          <p:nvPr/>
        </p:nvSpPr>
        <p:spPr>
          <a:xfrm>
            <a:off x="7272141" y="4962026"/>
            <a:ext cx="1981143" cy="487766"/>
          </a:xfrm>
          <a:prstGeom prst="rect">
            <a:avLst/>
          </a:prstGeom>
          <a:solidFill>
            <a:srgbClr val="D1B61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Generación de Orden Pago (OP)</a:t>
            </a:r>
            <a:endParaRPr lang="es-PE" sz="140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05F31E1-1CC0-995F-FEE1-48255B212377}"/>
              </a:ext>
            </a:extLst>
          </p:cNvPr>
          <p:cNvSpPr/>
          <p:nvPr/>
        </p:nvSpPr>
        <p:spPr>
          <a:xfrm>
            <a:off x="5017744" y="4956850"/>
            <a:ext cx="1981143" cy="492942"/>
          </a:xfrm>
          <a:prstGeom prst="rect">
            <a:avLst/>
          </a:prstGeom>
          <a:solidFill>
            <a:srgbClr val="D1B61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Aprobación 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Orden Pago (OP)</a:t>
            </a:r>
            <a:endParaRPr lang="es-PE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70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CCFEC3C-EA5A-C590-200A-43A2B6C32C24}"/>
              </a:ext>
            </a:extLst>
          </p:cNvPr>
          <p:cNvSpPr/>
          <p:nvPr/>
        </p:nvSpPr>
        <p:spPr>
          <a:xfrm>
            <a:off x="664238" y="4505755"/>
            <a:ext cx="11261062" cy="104390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bg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9F602F3-D874-D0A5-4EC8-5EFEBAE43B8C}"/>
              </a:ext>
            </a:extLst>
          </p:cNvPr>
          <p:cNvSpPr/>
          <p:nvPr/>
        </p:nvSpPr>
        <p:spPr>
          <a:xfrm>
            <a:off x="862645" y="4654391"/>
            <a:ext cx="1492367" cy="776159"/>
          </a:xfrm>
          <a:prstGeom prst="rect">
            <a:avLst/>
          </a:prstGeom>
          <a:solidFill>
            <a:srgbClr val="D1B61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Generación de Orden Pago (OP)</a:t>
            </a:r>
            <a:endParaRPr lang="es-PE" sz="1400" dirty="0">
              <a:solidFill>
                <a:schemeClr val="bg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756C94E-D5B2-0E42-4252-3C1C3D6726E5}"/>
              </a:ext>
            </a:extLst>
          </p:cNvPr>
          <p:cNvSpPr/>
          <p:nvPr/>
        </p:nvSpPr>
        <p:spPr>
          <a:xfrm>
            <a:off x="2718503" y="4654390"/>
            <a:ext cx="1492367" cy="776159"/>
          </a:xfrm>
          <a:prstGeom prst="rect">
            <a:avLst/>
          </a:prstGeom>
          <a:solidFill>
            <a:srgbClr val="D1B61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Aprobación 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Orden Pago (OP)</a:t>
            </a:r>
            <a:endParaRPr lang="es-PE" sz="1400" dirty="0">
              <a:solidFill>
                <a:schemeClr val="bg1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F721B1F-8285-EDC1-CFE2-C262D020BDAA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355012" y="5042470"/>
            <a:ext cx="363491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543B10A1-EDC2-FCC0-03D3-AD38D0350778}"/>
              </a:ext>
            </a:extLst>
          </p:cNvPr>
          <p:cNvSpPr/>
          <p:nvPr/>
        </p:nvSpPr>
        <p:spPr>
          <a:xfrm>
            <a:off x="4993830" y="3443560"/>
            <a:ext cx="1492367" cy="776159"/>
          </a:xfrm>
          <a:prstGeom prst="rect">
            <a:avLst/>
          </a:prstGeom>
          <a:solidFill>
            <a:srgbClr val="0AB6F5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Tesorería Pago en SAP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7D37CAD-54BE-6659-DA14-FF0EE5855DCE}"/>
              </a:ext>
            </a:extLst>
          </p:cNvPr>
          <p:cNvSpPr/>
          <p:nvPr/>
        </p:nvSpPr>
        <p:spPr>
          <a:xfrm>
            <a:off x="607526" y="1693343"/>
            <a:ext cx="4140680" cy="786107"/>
          </a:xfrm>
          <a:prstGeom prst="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HHMM</a:t>
            </a:r>
            <a:endParaRPr lang="es-PE" sz="1600" dirty="0">
              <a:solidFill>
                <a:schemeClr val="tx1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DEB50E6-4ECD-A4AB-016F-3CE37AE67265}"/>
              </a:ext>
            </a:extLst>
          </p:cNvPr>
          <p:cNvSpPr/>
          <p:nvPr/>
        </p:nvSpPr>
        <p:spPr>
          <a:xfrm>
            <a:off x="9386688" y="2950615"/>
            <a:ext cx="603849" cy="569343"/>
          </a:xfrm>
          <a:prstGeom prst="ellipse">
            <a:avLst/>
          </a:prstGeom>
          <a:solidFill>
            <a:srgbClr val="0AB6F5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es-ES" sz="1100" dirty="0">
                <a:solidFill>
                  <a:schemeClr val="tx1"/>
                </a:solidFill>
              </a:rPr>
              <a:t>(6)</a:t>
            </a:r>
            <a:endParaRPr lang="es-PE" sz="1100" dirty="0">
              <a:solidFill>
                <a:schemeClr val="tx1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CFAA1C0-3DB9-1E60-CAAA-3925FC1D670C}"/>
              </a:ext>
            </a:extLst>
          </p:cNvPr>
          <p:cNvSpPr/>
          <p:nvPr/>
        </p:nvSpPr>
        <p:spPr>
          <a:xfrm>
            <a:off x="7350392" y="4654390"/>
            <a:ext cx="1492367" cy="776159"/>
          </a:xfrm>
          <a:prstGeom prst="rect">
            <a:avLst/>
          </a:prstGeom>
          <a:solidFill>
            <a:srgbClr val="D1B61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Completar Pago</a:t>
            </a:r>
            <a:endParaRPr lang="es-PE" sz="1400" dirty="0">
              <a:solidFill>
                <a:schemeClr val="bg1"/>
              </a:solidFill>
            </a:endParaRPr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910ED9C7-D53D-F4F7-AD26-02FE947DCFB1}"/>
              </a:ext>
            </a:extLst>
          </p:cNvPr>
          <p:cNvCxnSpPr>
            <a:cxnSpLocks/>
            <a:stCxn id="14" idx="3"/>
            <a:endCxn id="12" idx="4"/>
          </p:cNvCxnSpPr>
          <p:nvPr/>
        </p:nvCxnSpPr>
        <p:spPr>
          <a:xfrm flipV="1">
            <a:off x="8842759" y="3519958"/>
            <a:ext cx="845854" cy="1522512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D917077C-F2C2-B27F-5AD4-4E7FE8FE94DB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4210870" y="3831640"/>
            <a:ext cx="782960" cy="1210830"/>
          </a:xfrm>
          <a:prstGeom prst="bentConnector3">
            <a:avLst/>
          </a:prstGeom>
          <a:ln w="3810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60C3148F-C76A-CBAD-9BBE-0C5D60DADE7A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6486197" y="3831640"/>
            <a:ext cx="864195" cy="1210830"/>
          </a:xfrm>
          <a:prstGeom prst="bentConnector3">
            <a:avLst>
              <a:gd name="adj1" fmla="val 50000"/>
            </a:avLst>
          </a:prstGeom>
          <a:ln w="3810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47EF032-0224-84AF-9B53-F3A922C1AC31}"/>
              </a:ext>
            </a:extLst>
          </p:cNvPr>
          <p:cNvSpPr txBox="1"/>
          <p:nvPr/>
        </p:nvSpPr>
        <p:spPr>
          <a:xfrm>
            <a:off x="664238" y="5579186"/>
            <a:ext cx="20136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FFC000"/>
                </a:solidFill>
              </a:rPr>
              <a:t>ADG-SHM (</a:t>
            </a:r>
            <a:r>
              <a:rPr lang="es-ES" sz="1400" b="1" dirty="0" err="1">
                <a:solidFill>
                  <a:srgbClr val="FFC000"/>
                </a:solidFill>
              </a:rPr>
              <a:t>Workflow</a:t>
            </a:r>
            <a:r>
              <a:rPr lang="es-ES" sz="1400" b="1" dirty="0">
                <a:solidFill>
                  <a:srgbClr val="FFC000"/>
                </a:solidFill>
              </a:rPr>
              <a:t>)</a:t>
            </a:r>
            <a:endParaRPr lang="es-PE" sz="1400" b="1" dirty="0">
              <a:solidFill>
                <a:srgbClr val="FFC000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4C27A5C-7635-81A4-30E0-ED794DF4B857}"/>
              </a:ext>
            </a:extLst>
          </p:cNvPr>
          <p:cNvSpPr/>
          <p:nvPr/>
        </p:nvSpPr>
        <p:spPr>
          <a:xfrm>
            <a:off x="10460243" y="997943"/>
            <a:ext cx="1004012" cy="776159"/>
          </a:xfrm>
          <a:prstGeom prst="rect">
            <a:avLst/>
          </a:prstGeom>
          <a:solidFill>
            <a:srgbClr val="0AB6F5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SAP</a:t>
            </a:r>
            <a:endParaRPr lang="es-PE" dirty="0">
              <a:solidFill>
                <a:schemeClr val="bg1"/>
              </a:solidFill>
            </a:endParaRPr>
          </a:p>
        </p:txBody>
      </p: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314EEEB3-A0E6-A6D4-F3D0-FA27E0F83DD8}"/>
              </a:ext>
            </a:extLst>
          </p:cNvPr>
          <p:cNvCxnSpPr>
            <a:cxnSpLocks/>
            <a:stCxn id="19" idx="2"/>
            <a:endCxn id="12" idx="6"/>
          </p:cNvCxnSpPr>
          <p:nvPr/>
        </p:nvCxnSpPr>
        <p:spPr>
          <a:xfrm rot="5400000">
            <a:off x="9745801" y="2018838"/>
            <a:ext cx="1461185" cy="971712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67F7E19-284F-4E72-DC34-295F58880B9C}"/>
              </a:ext>
            </a:extLst>
          </p:cNvPr>
          <p:cNvSpPr txBox="1"/>
          <p:nvPr/>
        </p:nvSpPr>
        <p:spPr>
          <a:xfrm>
            <a:off x="9915312" y="3412542"/>
            <a:ext cx="10898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bg1"/>
                </a:solidFill>
              </a:rPr>
              <a:t>6) Consulta de Estado de Pago de  Factura SAP</a:t>
            </a:r>
            <a:endParaRPr lang="es-PE" sz="1100" dirty="0">
              <a:solidFill>
                <a:schemeClr val="bg1"/>
              </a:solidFill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17BBD8BD-B063-2D58-67D6-47A7DCEF7DA5}"/>
              </a:ext>
            </a:extLst>
          </p:cNvPr>
          <p:cNvSpPr txBox="1"/>
          <p:nvPr/>
        </p:nvSpPr>
        <p:spPr>
          <a:xfrm>
            <a:off x="603259" y="2527706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solidFill>
                  <a:srgbClr val="7030A0"/>
                </a:solidFill>
              </a:rPr>
              <a:t>HHMM</a:t>
            </a:r>
            <a:endParaRPr lang="es-PE" sz="1400" dirty="0">
              <a:solidFill>
                <a:srgbClr val="7030A0"/>
              </a:solidFill>
            </a:endParaRPr>
          </a:p>
        </p:txBody>
      </p:sp>
      <p:sp>
        <p:nvSpPr>
          <p:cNvPr id="75" name="Título 74">
            <a:extLst>
              <a:ext uri="{FF2B5EF4-FFF2-40B4-BE49-F238E27FC236}">
                <a16:creationId xmlns:a16="http://schemas.microsoft.com/office/drawing/2014/main" id="{F16A9EE2-EA47-5AAA-5718-42B2C1A61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Fase 3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51515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2">
            <a:extLst>
              <a:ext uri="{FF2B5EF4-FFF2-40B4-BE49-F238E27FC236}">
                <a16:creationId xmlns:a16="http://schemas.microsoft.com/office/drawing/2014/main" id="{D42CAB41-0D85-3856-968D-5D8B61BBD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271468"/>
              </p:ext>
            </p:extLst>
          </p:nvPr>
        </p:nvGraphicFramePr>
        <p:xfrm>
          <a:off x="286734" y="1399307"/>
          <a:ext cx="11618532" cy="32805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4148019743"/>
                    </a:ext>
                  </a:extLst>
                </a:gridCol>
                <a:gridCol w="5163090">
                  <a:extLst>
                    <a:ext uri="{9D8B030D-6E8A-4147-A177-3AD203B41FA5}">
                      <a16:colId xmlns:a16="http://schemas.microsoft.com/office/drawing/2014/main" val="1753881713"/>
                    </a:ext>
                  </a:extLst>
                </a:gridCol>
                <a:gridCol w="1150540">
                  <a:extLst>
                    <a:ext uri="{9D8B030D-6E8A-4147-A177-3AD203B41FA5}">
                      <a16:colId xmlns:a16="http://schemas.microsoft.com/office/drawing/2014/main" val="2902060125"/>
                    </a:ext>
                  </a:extLst>
                </a:gridCol>
                <a:gridCol w="2681832">
                  <a:extLst>
                    <a:ext uri="{9D8B030D-6E8A-4147-A177-3AD203B41FA5}">
                      <a16:colId xmlns:a16="http://schemas.microsoft.com/office/drawing/2014/main" val="2881737545"/>
                    </a:ext>
                  </a:extLst>
                </a:gridCol>
                <a:gridCol w="2147582">
                  <a:extLst>
                    <a:ext uri="{9D8B030D-6E8A-4147-A177-3AD203B41FA5}">
                      <a16:colId xmlns:a16="http://schemas.microsoft.com/office/drawing/2014/main" val="3177053349"/>
                    </a:ext>
                  </a:extLst>
                </a:gridCol>
              </a:tblGrid>
              <a:tr h="336513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/>
                        <a:t>Quien lo invoca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/>
                        <a:t>Responsable de Desarrollo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32520"/>
                  </a:ext>
                </a:extLst>
              </a:tr>
              <a:tr h="194823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Envío de datos de Producción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Sistema Clínico 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HHMM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ADG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971517"/>
                  </a:ext>
                </a:extLst>
              </a:tr>
              <a:tr h="336513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Datos Maestros: Tipos de producción, Rubro, Tipo de Médicos, Entidad Medica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ADG-SHM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Sistemas San Pablo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761526"/>
                  </a:ext>
                </a:extLst>
              </a:tr>
              <a:tr h="194823">
                <a:tc>
                  <a:txBody>
                    <a:bodyPr/>
                    <a:lstStyle/>
                    <a:p>
                      <a:pPr algn="ctr"/>
                      <a:r>
                        <a:rPr lang="es-PE" sz="140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Envío de Facturas en el Sistema HHMM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ADG-SHM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Sistemas San Pablo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027474"/>
                  </a:ext>
                </a:extLst>
              </a:tr>
              <a:tr h="194823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Envío de datos de Liquidación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ADG-SHM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ADG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557897"/>
                  </a:ext>
                </a:extLst>
              </a:tr>
              <a:tr h="194823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Consulta de bancos, cuenta bancaria por entidad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ADG-SHM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SAP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503063"/>
                  </a:ext>
                </a:extLst>
              </a:tr>
              <a:tr h="194823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Consulta de Estado de Pago de  Factura SAP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ADG-SHM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SAP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230575"/>
                  </a:ext>
                </a:extLst>
              </a:tr>
              <a:tr h="241455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Consulta de Estado de Pago de  Factura IQSOFT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ADG-SHM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IQSOFT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532327"/>
                  </a:ext>
                </a:extLst>
              </a:tr>
              <a:tr h="415417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Actualizar Estado de Pago de  Factura HHMM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POST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ADG-SHM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Sistemas San Pablo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770394"/>
                  </a:ext>
                </a:extLst>
              </a:tr>
            </a:tbl>
          </a:graphicData>
        </a:graphic>
      </p:graphicFrame>
      <p:sp>
        <p:nvSpPr>
          <p:cNvPr id="7" name="Título 6">
            <a:extLst>
              <a:ext uri="{FF2B5EF4-FFF2-40B4-BE49-F238E27FC236}">
                <a16:creationId xmlns:a16="http://schemas.microsoft.com/office/drawing/2014/main" id="{B6764E4C-F66F-EFAE-4CB7-CBA28858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Lista de </a:t>
            </a:r>
            <a:r>
              <a:rPr lang="es-ES" dirty="0" err="1"/>
              <a:t>APIs</a:t>
            </a:r>
            <a:r>
              <a:rPr lang="es-ES" dirty="0"/>
              <a:t> de Integración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50566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23042"/>
      </a:accent1>
      <a:accent2>
        <a:srgbClr val="3578AF"/>
      </a:accent2>
      <a:accent3>
        <a:srgbClr val="C4C4C4"/>
      </a:accent3>
      <a:accent4>
        <a:srgbClr val="A80B22"/>
      </a:accent4>
      <a:accent5>
        <a:srgbClr val="E2E2E2"/>
      </a:accent5>
      <a:accent6>
        <a:srgbClr val="2A6187"/>
      </a:accent6>
      <a:hlink>
        <a:srgbClr val="0563C1"/>
      </a:hlink>
      <a:folHlink>
        <a:srgbClr val="954F72"/>
      </a:folHlink>
    </a:clrScheme>
    <a:fontScheme name="Custom 8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rter Template_Heritage Month Presentation" id="{910467CA-E581-43CB-A3F9-242953556B2E}" vid="{325629C9-8C54-4982-A5E7-91DBF3E63BF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3ACE82-BD1C-4CC4-B9C6-7097502B70B7}">
  <ds:schemaRefs>
    <ds:schemaRef ds:uri="http://www.w3.org/XML/1998/namespace"/>
    <ds:schemaRef ds:uri="http://purl.org/dc/dcmitype/"/>
    <ds:schemaRef ds:uri="230e9df3-be65-4c73-a93b-d1236ebd677e"/>
    <ds:schemaRef ds:uri="http://schemas.microsoft.com/office/2006/documentManagement/types"/>
    <ds:schemaRef ds:uri="http://purl.org/dc/elements/1.1/"/>
    <ds:schemaRef ds:uri="16c05727-aa75-4e4a-9b5f-8a80a1165891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infopath/2007/PartnerControls"/>
    <ds:schemaRef ds:uri="71af3243-3dd4-4a8d-8c0d-dd76da1f02a5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A704BC66-A771-492B-8E79-E3C5E33B71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0AD4D6-2712-4EC3-A727-A5652AD67F9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Starter Template_Heritage Month Presentation</Template>
  <TotalTime>0</TotalTime>
  <Words>287</Words>
  <Application>Microsoft Office PowerPoint</Application>
  <PresentationFormat>Panorámica</PresentationFormat>
  <Paragraphs>105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Sistema de Honorarios Médicos Integraciones</vt:lpstr>
      <vt:lpstr>Fase 1</vt:lpstr>
      <vt:lpstr>Fase 2</vt:lpstr>
      <vt:lpstr>Fase 3</vt:lpstr>
      <vt:lpstr>Lista de APIs de Integración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2021-02-18T07:10:18Z</dcterms:created>
  <dcterms:modified xsi:type="dcterms:W3CDTF">2026-04-25T16:40:31Z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