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7" r:id="rId4"/>
  </p:sldMasterIdLst>
  <p:notesMasterIdLst>
    <p:notesMasterId r:id="rId9"/>
  </p:notesMasterIdLst>
  <p:sldIdLst>
    <p:sldId id="1864" r:id="rId5"/>
    <p:sldId id="1899" r:id="rId6"/>
    <p:sldId id="1901" r:id="rId7"/>
    <p:sldId id="190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78AF"/>
    <a:srgbClr val="0AB6F5"/>
    <a:srgbClr val="00D0A3"/>
    <a:srgbClr val="D1B613"/>
    <a:srgbClr val="C4C4C4"/>
    <a:srgbClr val="204ECF"/>
    <a:srgbClr val="204ECE"/>
    <a:srgbClr val="0AB5F4"/>
    <a:srgbClr val="E23042"/>
    <a:srgbClr val="E13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724" autoAdjust="0"/>
  </p:normalViewPr>
  <p:slideViewPr>
    <p:cSldViewPr snapToGrid="0">
      <p:cViewPr varScale="1">
        <p:scale>
          <a:sx n="105" d="100"/>
          <a:sy n="105" d="100"/>
        </p:scale>
        <p:origin x="1008" y="96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‹Nº›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5191-0569-4DC4-91C0-32BE2B3AB9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83" y="310718"/>
            <a:ext cx="11496583" cy="523783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984" y="958788"/>
            <a:ext cx="11496583" cy="48116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739" y="351980"/>
            <a:ext cx="11452193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32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740" y="1162976"/>
            <a:ext cx="11452194" cy="46252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2012" y="2766219"/>
            <a:ext cx="6220101" cy="1325563"/>
          </a:xfrm>
        </p:spPr>
        <p:txBody>
          <a:bodyPr anchor="ctr">
            <a:noAutofit/>
          </a:bodyPr>
          <a:lstStyle/>
          <a:p>
            <a:r>
              <a:rPr lang="es-PE" altLang="en-US" sz="2800" dirty="0"/>
              <a:t>Sistema de Honorarios Médicos</a:t>
            </a:r>
            <a:br>
              <a:rPr lang="es-PE" altLang="en-US" sz="2800" dirty="0"/>
            </a:br>
            <a:r>
              <a:rPr lang="es-PE" altLang="en-US" sz="2800" dirty="0"/>
              <a:t>Integraciones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F15BFF3-36E1-4483-B185-1E7DD12F5691}"/>
              </a:ext>
            </a:extLst>
          </p:cNvPr>
          <p:cNvSpPr txBox="1"/>
          <p:nvPr/>
        </p:nvSpPr>
        <p:spPr>
          <a:xfrm>
            <a:off x="5442012" y="3907116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solidFill>
                  <a:schemeClr val="bg1"/>
                </a:solidFill>
              </a:rPr>
              <a:t>Enero del 2026</a:t>
            </a:r>
          </a:p>
        </p:txBody>
      </p:sp>
      <p:pic>
        <p:nvPicPr>
          <p:cNvPr id="7" name="Imagen 4">
            <a:extLst>
              <a:ext uri="{FF2B5EF4-FFF2-40B4-BE49-F238E27FC236}">
                <a16:creationId xmlns:a16="http://schemas.microsoft.com/office/drawing/2014/main" id="{6E491026-4823-6119-500C-F1C3F0461A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507" y="1351690"/>
            <a:ext cx="2731110" cy="8956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4D0AA59-DD85-5FAC-8585-EC85A6324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405" y="5771184"/>
            <a:ext cx="2553708" cy="79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ángulo 57">
            <a:extLst>
              <a:ext uri="{FF2B5EF4-FFF2-40B4-BE49-F238E27FC236}">
                <a16:creationId xmlns:a16="http://schemas.microsoft.com/office/drawing/2014/main" id="{43B13A40-A431-0F49-6529-81F3255A6FD7}"/>
              </a:ext>
            </a:extLst>
          </p:cNvPr>
          <p:cNvSpPr/>
          <p:nvPr/>
        </p:nvSpPr>
        <p:spPr>
          <a:xfrm>
            <a:off x="4025660" y="2457486"/>
            <a:ext cx="4140680" cy="638355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bg1"/>
                </a:solidFill>
              </a:rPr>
              <a:t>HHMM</a:t>
            </a:r>
            <a:endParaRPr lang="es-PE" sz="1600" dirty="0">
              <a:solidFill>
                <a:schemeClr val="bg1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31623742-4151-6EC1-CD7F-7887FE220560}"/>
              </a:ext>
            </a:extLst>
          </p:cNvPr>
          <p:cNvSpPr/>
          <p:nvPr/>
        </p:nvSpPr>
        <p:spPr>
          <a:xfrm>
            <a:off x="1361248" y="4849941"/>
            <a:ext cx="4107371" cy="73866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AEE6E65D-B76A-8872-DFE0-0994B6BF61C2}"/>
              </a:ext>
            </a:extLst>
          </p:cNvPr>
          <p:cNvSpPr/>
          <p:nvPr/>
        </p:nvSpPr>
        <p:spPr>
          <a:xfrm>
            <a:off x="2796875" y="3512355"/>
            <a:ext cx="629728" cy="60384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(1)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3A62AD01-4264-B1BB-9D0F-A95759B03C73}"/>
              </a:ext>
            </a:extLst>
          </p:cNvPr>
          <p:cNvCxnSpPr>
            <a:cxnSpLocks/>
            <a:endCxn id="60" idx="0"/>
          </p:cNvCxnSpPr>
          <p:nvPr/>
        </p:nvCxnSpPr>
        <p:spPr>
          <a:xfrm rot="10800000" flipV="1">
            <a:off x="3111740" y="2847817"/>
            <a:ext cx="904845" cy="66453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0D362691-AB4E-FC84-E1F8-787486FAA8FF}"/>
              </a:ext>
            </a:extLst>
          </p:cNvPr>
          <p:cNvCxnSpPr>
            <a:cxnSpLocks/>
            <a:stCxn id="60" idx="4"/>
            <a:endCxn id="59" idx="0"/>
          </p:cNvCxnSpPr>
          <p:nvPr/>
        </p:nvCxnSpPr>
        <p:spPr>
          <a:xfrm rot="16200000" flipH="1">
            <a:off x="2896467" y="4331474"/>
            <a:ext cx="733738" cy="303195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45DECCA-8854-85C6-D500-9C24B005EA44}"/>
              </a:ext>
            </a:extLst>
          </p:cNvPr>
          <p:cNvSpPr txBox="1"/>
          <p:nvPr/>
        </p:nvSpPr>
        <p:spPr>
          <a:xfrm>
            <a:off x="3470162" y="3479157"/>
            <a:ext cx="129301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100" dirty="0">
                <a:solidFill>
                  <a:schemeClr val="bg1"/>
                </a:solidFill>
              </a:rPr>
              <a:t>1) Envío de datos de Producción (Lista)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610732F1-A78E-8C97-298E-68057C1D9D6C}"/>
              </a:ext>
            </a:extLst>
          </p:cNvPr>
          <p:cNvSpPr/>
          <p:nvPr/>
        </p:nvSpPr>
        <p:spPr>
          <a:xfrm>
            <a:off x="5579575" y="3962038"/>
            <a:ext cx="629728" cy="60384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tx1"/>
                </a:solidFill>
              </a:rPr>
              <a:t>(3)</a:t>
            </a:r>
            <a:endParaRPr lang="es-PE" sz="1400" dirty="0">
              <a:solidFill>
                <a:schemeClr val="tx1"/>
              </a:solidFill>
            </a:endParaRPr>
          </a:p>
        </p:txBody>
      </p: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2DE5E597-16B9-BF22-C73F-481E06FC1A15}"/>
              </a:ext>
            </a:extLst>
          </p:cNvPr>
          <p:cNvCxnSpPr>
            <a:cxnSpLocks/>
            <a:stCxn id="64" idx="0"/>
            <a:endCxn id="94" idx="2"/>
          </p:cNvCxnSpPr>
          <p:nvPr/>
        </p:nvCxnSpPr>
        <p:spPr>
          <a:xfrm rot="5400000" flipH="1" flipV="1">
            <a:off x="5480880" y="3368491"/>
            <a:ext cx="1007106" cy="17998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FAE5C2F9-F92F-85F6-0AD2-EC58CBD45E5E}"/>
              </a:ext>
            </a:extLst>
          </p:cNvPr>
          <p:cNvCxnSpPr>
            <a:cxnSpLocks/>
            <a:stCxn id="59" idx="3"/>
            <a:endCxn id="64" idx="4"/>
          </p:cNvCxnSpPr>
          <p:nvPr/>
        </p:nvCxnSpPr>
        <p:spPr>
          <a:xfrm flipV="1">
            <a:off x="5468619" y="4565886"/>
            <a:ext cx="425820" cy="65338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A24BB243-087F-7C1E-2AF5-E5A75ADA37EB}"/>
              </a:ext>
            </a:extLst>
          </p:cNvPr>
          <p:cNvSpPr txBox="1"/>
          <p:nvPr/>
        </p:nvSpPr>
        <p:spPr>
          <a:xfrm>
            <a:off x="6323601" y="3899749"/>
            <a:ext cx="96256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PE"/>
            </a:defPPr>
            <a:lvl1pPr>
              <a:defRPr sz="1100"/>
            </a:lvl1pPr>
          </a:lstStyle>
          <a:p>
            <a:r>
              <a:rPr lang="es-PE" dirty="0">
                <a:solidFill>
                  <a:schemeClr val="bg1"/>
                </a:solidFill>
              </a:rPr>
              <a:t>3) Envío de Facturas</a:t>
            </a:r>
          </a:p>
          <a:p>
            <a:r>
              <a:rPr lang="es-PE" dirty="0">
                <a:solidFill>
                  <a:schemeClr val="bg1"/>
                </a:solidFill>
              </a:rPr>
              <a:t>(Lista)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82FA946B-5372-E787-9EB5-0AF276011454}"/>
              </a:ext>
            </a:extLst>
          </p:cNvPr>
          <p:cNvSpPr/>
          <p:nvPr/>
        </p:nvSpPr>
        <p:spPr>
          <a:xfrm>
            <a:off x="8432718" y="4066097"/>
            <a:ext cx="629728" cy="603848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(4)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8F6CE24F-01DC-1098-67E7-2923EDC4A4C1}"/>
              </a:ext>
            </a:extLst>
          </p:cNvPr>
          <p:cNvSpPr txBox="1"/>
          <p:nvPr/>
        </p:nvSpPr>
        <p:spPr>
          <a:xfrm>
            <a:off x="9117468" y="3962038"/>
            <a:ext cx="9981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100" dirty="0">
                <a:solidFill>
                  <a:schemeClr val="bg1"/>
                </a:solidFill>
              </a:rPr>
              <a:t>4) Envío de datos de Liquidación (Lista)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B91F166-1B12-0161-4277-8E6538F95435}"/>
              </a:ext>
            </a:extLst>
          </p:cNvPr>
          <p:cNvSpPr txBox="1"/>
          <p:nvPr/>
        </p:nvSpPr>
        <p:spPr>
          <a:xfrm>
            <a:off x="6896726" y="884136"/>
            <a:ext cx="1995577" cy="461665"/>
          </a:xfrm>
          <a:prstGeom prst="rect">
            <a:avLst/>
          </a:prstGeom>
          <a:solidFill>
            <a:srgbClr val="0AB6F5"/>
          </a:solidFill>
          <a:ln>
            <a:solidFill>
              <a:srgbClr val="0AB6F5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</a:rPr>
              <a:t>Registro de Facturas en SAP</a:t>
            </a:r>
            <a:endParaRPr lang="es-PE" sz="1200" dirty="0">
              <a:solidFill>
                <a:schemeClr val="bg1"/>
              </a:solidFill>
            </a:endParaRPr>
          </a:p>
        </p:txBody>
      </p:sp>
      <p:cxnSp>
        <p:nvCxnSpPr>
          <p:cNvPr id="71" name="Conector: angular 70">
            <a:extLst>
              <a:ext uri="{FF2B5EF4-FFF2-40B4-BE49-F238E27FC236}">
                <a16:creationId xmlns:a16="http://schemas.microsoft.com/office/drawing/2014/main" id="{7D0C3193-14DC-32E6-B4FF-AE9FA821D640}"/>
              </a:ext>
            </a:extLst>
          </p:cNvPr>
          <p:cNvCxnSpPr>
            <a:cxnSpLocks/>
            <a:stCxn id="58" idx="0"/>
            <a:endCxn id="70" idx="2"/>
          </p:cNvCxnSpPr>
          <p:nvPr/>
        </p:nvCxnSpPr>
        <p:spPr>
          <a:xfrm rot="5400000" flipH="1" flipV="1">
            <a:off x="6439415" y="1002387"/>
            <a:ext cx="1111685" cy="179851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ángulo 71">
            <a:extLst>
              <a:ext uri="{FF2B5EF4-FFF2-40B4-BE49-F238E27FC236}">
                <a16:creationId xmlns:a16="http://schemas.microsoft.com/office/drawing/2014/main" id="{7847DD6F-7F1E-0B7B-5B5D-B78384E1C081}"/>
              </a:ext>
            </a:extLst>
          </p:cNvPr>
          <p:cNvSpPr/>
          <p:nvPr/>
        </p:nvSpPr>
        <p:spPr>
          <a:xfrm>
            <a:off x="6732916" y="2583998"/>
            <a:ext cx="1289650" cy="370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Liquidación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8B3CA84-CA14-4565-418F-13A63421FB08}"/>
              </a:ext>
            </a:extLst>
          </p:cNvPr>
          <p:cNvSpPr/>
          <p:nvPr/>
        </p:nvSpPr>
        <p:spPr>
          <a:xfrm>
            <a:off x="4172308" y="2583999"/>
            <a:ext cx="1289650" cy="3709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Producción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154A1B40-2F19-F59D-583E-375E5FE6D5E5}"/>
              </a:ext>
            </a:extLst>
          </p:cNvPr>
          <p:cNvCxnSpPr>
            <a:cxnSpLocks/>
            <a:stCxn id="72" idx="2"/>
            <a:endCxn id="68" idx="0"/>
          </p:cNvCxnSpPr>
          <p:nvPr/>
        </p:nvCxnSpPr>
        <p:spPr>
          <a:xfrm rot="16200000" flipH="1">
            <a:off x="7507079" y="2825594"/>
            <a:ext cx="1111164" cy="136984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angular 74">
            <a:extLst>
              <a:ext uri="{FF2B5EF4-FFF2-40B4-BE49-F238E27FC236}">
                <a16:creationId xmlns:a16="http://schemas.microsoft.com/office/drawing/2014/main" id="{DCC8BCAB-DD48-3B77-BFB3-C5963128F3C2}"/>
              </a:ext>
            </a:extLst>
          </p:cNvPr>
          <p:cNvCxnSpPr>
            <a:cxnSpLocks/>
            <a:stCxn id="68" idx="4"/>
          </p:cNvCxnSpPr>
          <p:nvPr/>
        </p:nvCxnSpPr>
        <p:spPr>
          <a:xfrm rot="5400000">
            <a:off x="6686969" y="3402536"/>
            <a:ext cx="793204" cy="332802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de flecha 75">
            <a:extLst>
              <a:ext uri="{FF2B5EF4-FFF2-40B4-BE49-F238E27FC236}">
                <a16:creationId xmlns:a16="http://schemas.microsoft.com/office/drawing/2014/main" id="{765F99B9-5A33-CAF5-0F69-D0E32F3CD597}"/>
              </a:ext>
            </a:extLst>
          </p:cNvPr>
          <p:cNvCxnSpPr>
            <a:cxnSpLocks/>
            <a:stCxn id="70" idx="3"/>
            <a:endCxn id="77" idx="1"/>
          </p:cNvCxnSpPr>
          <p:nvPr/>
        </p:nvCxnSpPr>
        <p:spPr>
          <a:xfrm flipV="1">
            <a:off x="8892303" y="1113567"/>
            <a:ext cx="814582" cy="1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00F8A01-419A-5AA6-17A1-45C045A23812}"/>
              </a:ext>
            </a:extLst>
          </p:cNvPr>
          <p:cNvSpPr txBox="1"/>
          <p:nvPr/>
        </p:nvSpPr>
        <p:spPr>
          <a:xfrm>
            <a:off x="9706885" y="928901"/>
            <a:ext cx="114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Tesorería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78" name="Diagrama de flujo: conector 77">
            <a:extLst>
              <a:ext uri="{FF2B5EF4-FFF2-40B4-BE49-F238E27FC236}">
                <a16:creationId xmlns:a16="http://schemas.microsoft.com/office/drawing/2014/main" id="{649FE542-F18E-9C47-2D74-B81E76D9C29D}"/>
              </a:ext>
            </a:extLst>
          </p:cNvPr>
          <p:cNvSpPr/>
          <p:nvPr/>
        </p:nvSpPr>
        <p:spPr>
          <a:xfrm>
            <a:off x="500625" y="3473734"/>
            <a:ext cx="601019" cy="573270"/>
          </a:xfrm>
          <a:prstGeom prst="flowChartConnector">
            <a:avLst/>
          </a:prstGeom>
          <a:solidFill>
            <a:srgbClr val="0AB6F5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(5)</a:t>
            </a:r>
            <a:endParaRPr lang="es-PE" sz="1200" dirty="0">
              <a:solidFill>
                <a:schemeClr val="tx1"/>
              </a:solidFill>
            </a:endParaRPr>
          </a:p>
        </p:txBody>
      </p:sp>
      <p:cxnSp>
        <p:nvCxnSpPr>
          <p:cNvPr id="79" name="Conector: angular 78">
            <a:extLst>
              <a:ext uri="{FF2B5EF4-FFF2-40B4-BE49-F238E27FC236}">
                <a16:creationId xmlns:a16="http://schemas.microsoft.com/office/drawing/2014/main" id="{94F1411D-223B-2CFA-542D-5FA90E837F83}"/>
              </a:ext>
            </a:extLst>
          </p:cNvPr>
          <p:cNvCxnSpPr>
            <a:cxnSpLocks/>
            <a:stCxn id="78" idx="4"/>
            <a:endCxn id="59" idx="1"/>
          </p:cNvCxnSpPr>
          <p:nvPr/>
        </p:nvCxnSpPr>
        <p:spPr>
          <a:xfrm rot="16200000" flipH="1">
            <a:off x="495057" y="4353081"/>
            <a:ext cx="1172269" cy="560113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3C4D3B5A-9631-5CCF-202B-204AF49DD052}"/>
              </a:ext>
            </a:extLst>
          </p:cNvPr>
          <p:cNvSpPr/>
          <p:nvPr/>
        </p:nvSpPr>
        <p:spPr>
          <a:xfrm>
            <a:off x="343934" y="1207302"/>
            <a:ext cx="914400" cy="914400"/>
          </a:xfrm>
          <a:prstGeom prst="rect">
            <a:avLst/>
          </a:prstGeom>
          <a:solidFill>
            <a:srgbClr val="0AB6F5"/>
          </a:solidFill>
          <a:ln>
            <a:solidFill>
              <a:srgbClr val="0AB6F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SAP</a:t>
            </a:r>
            <a:endParaRPr lang="es-PE" dirty="0">
              <a:solidFill>
                <a:schemeClr val="bg1"/>
              </a:solidFill>
            </a:endParaRPr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C893C1BB-3A6A-07C0-6836-32C2AE970BE4}"/>
              </a:ext>
            </a:extLst>
          </p:cNvPr>
          <p:cNvCxnSpPr>
            <a:stCxn id="80" idx="2"/>
            <a:endCxn id="78" idx="0"/>
          </p:cNvCxnSpPr>
          <p:nvPr/>
        </p:nvCxnSpPr>
        <p:spPr>
          <a:xfrm>
            <a:off x="801134" y="2121702"/>
            <a:ext cx="1" cy="13520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41B4AC51-F214-4525-E2D6-9A67DB659F7E}"/>
              </a:ext>
            </a:extLst>
          </p:cNvPr>
          <p:cNvSpPr txBox="1"/>
          <p:nvPr/>
        </p:nvSpPr>
        <p:spPr>
          <a:xfrm>
            <a:off x="826604" y="2281599"/>
            <a:ext cx="11056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solidFill>
                  <a:schemeClr val="bg1"/>
                </a:solidFill>
              </a:rPr>
              <a:t>5) Consulta Cuenta Corriente del Acreedor</a:t>
            </a:r>
            <a:endParaRPr lang="es-PE" sz="1050" dirty="0">
              <a:solidFill>
                <a:schemeClr val="bg1"/>
              </a:solidFill>
            </a:endParaRP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21753E6-D12B-C482-C41A-0F83808C116D}"/>
              </a:ext>
            </a:extLst>
          </p:cNvPr>
          <p:cNvSpPr/>
          <p:nvPr/>
        </p:nvSpPr>
        <p:spPr>
          <a:xfrm>
            <a:off x="1895620" y="3477201"/>
            <a:ext cx="629728" cy="603848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400" dirty="0">
                <a:solidFill>
                  <a:schemeClr val="tx1"/>
                </a:solidFill>
              </a:rPr>
              <a:t>(2)</a:t>
            </a:r>
            <a:endParaRPr lang="es-PE" sz="1400" dirty="0">
              <a:solidFill>
                <a:schemeClr val="tx1"/>
              </a:solidFill>
            </a:endParaRPr>
          </a:p>
        </p:txBody>
      </p:sp>
      <p:cxnSp>
        <p:nvCxnSpPr>
          <p:cNvPr id="84" name="Conector: angular 83">
            <a:extLst>
              <a:ext uri="{FF2B5EF4-FFF2-40B4-BE49-F238E27FC236}">
                <a16:creationId xmlns:a16="http://schemas.microsoft.com/office/drawing/2014/main" id="{3B810419-FDF5-981A-9AEC-C13DE2D84295}"/>
              </a:ext>
            </a:extLst>
          </p:cNvPr>
          <p:cNvCxnSpPr>
            <a:cxnSpLocks/>
            <a:stCxn id="58" idx="1"/>
            <a:endCxn id="83" idx="0"/>
          </p:cNvCxnSpPr>
          <p:nvPr/>
        </p:nvCxnSpPr>
        <p:spPr>
          <a:xfrm rot="10800000" flipV="1">
            <a:off x="2210484" y="2776663"/>
            <a:ext cx="1815176" cy="70053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EA35D0CA-39B5-C198-27D1-3B30E38B3350}"/>
              </a:ext>
            </a:extLst>
          </p:cNvPr>
          <p:cNvCxnSpPr>
            <a:cxnSpLocks/>
            <a:stCxn id="83" idx="4"/>
          </p:cNvCxnSpPr>
          <p:nvPr/>
        </p:nvCxnSpPr>
        <p:spPr>
          <a:xfrm>
            <a:off x="2210484" y="4081049"/>
            <a:ext cx="7936" cy="8675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70341D6-7F9F-2D49-AD90-F0343775FF87}"/>
              </a:ext>
            </a:extLst>
          </p:cNvPr>
          <p:cNvSpPr txBox="1"/>
          <p:nvPr/>
        </p:nvSpPr>
        <p:spPr>
          <a:xfrm>
            <a:off x="2137481" y="2278012"/>
            <a:ext cx="12028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100" dirty="0">
                <a:solidFill>
                  <a:schemeClr val="bg1"/>
                </a:solidFill>
              </a:rPr>
              <a:t>2) Datos Maestros (Lista)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805AE8B2-4B63-78A8-DB4D-F28ADA254CD8}"/>
              </a:ext>
            </a:extLst>
          </p:cNvPr>
          <p:cNvSpPr/>
          <p:nvPr/>
        </p:nvSpPr>
        <p:spPr>
          <a:xfrm>
            <a:off x="3655082" y="793936"/>
            <a:ext cx="1699403" cy="657744"/>
          </a:xfrm>
          <a:prstGeom prst="rect">
            <a:avLst/>
          </a:prstGeom>
          <a:solidFill>
            <a:srgbClr val="00D0A3"/>
          </a:solidFill>
          <a:ln>
            <a:solidFill>
              <a:srgbClr val="00D0A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IQ SOFT</a:t>
            </a:r>
            <a:endParaRPr lang="es-PE" dirty="0">
              <a:solidFill>
                <a:schemeClr val="bg1"/>
              </a:solidFill>
            </a:endParaRPr>
          </a:p>
        </p:txBody>
      </p: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F98DDD02-E311-93EA-B0B7-DB3B2184DEA6}"/>
              </a:ext>
            </a:extLst>
          </p:cNvPr>
          <p:cNvCxnSpPr/>
          <p:nvPr/>
        </p:nvCxnSpPr>
        <p:spPr>
          <a:xfrm flipV="1">
            <a:off x="4608011" y="1451680"/>
            <a:ext cx="0" cy="99945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0" name="Conector: angular 89">
            <a:extLst>
              <a:ext uri="{FF2B5EF4-FFF2-40B4-BE49-F238E27FC236}">
                <a16:creationId xmlns:a16="http://schemas.microsoft.com/office/drawing/2014/main" id="{77F3517D-4AFD-F75C-908F-9281EA4E54CD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75303" y="1632911"/>
            <a:ext cx="1308911" cy="360065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4" name="Rectángulo 93">
            <a:extLst>
              <a:ext uri="{FF2B5EF4-FFF2-40B4-BE49-F238E27FC236}">
                <a16:creationId xmlns:a16="http://schemas.microsoft.com/office/drawing/2014/main" id="{1B3A0EA2-15EA-C01D-D4B8-FE5588CA9524}"/>
              </a:ext>
            </a:extLst>
          </p:cNvPr>
          <p:cNvSpPr/>
          <p:nvPr/>
        </p:nvSpPr>
        <p:spPr>
          <a:xfrm>
            <a:off x="5610759" y="2608771"/>
            <a:ext cx="927337" cy="34616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Factura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1D8D352B-0B72-E653-5174-4C57D406CDA8}"/>
              </a:ext>
            </a:extLst>
          </p:cNvPr>
          <p:cNvSpPr txBox="1"/>
          <p:nvPr/>
        </p:nvSpPr>
        <p:spPr>
          <a:xfrm>
            <a:off x="7342251" y="211435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7030A0"/>
                </a:solidFill>
              </a:rPr>
              <a:t>HHMM</a:t>
            </a:r>
            <a:endParaRPr lang="es-PE" dirty="0">
              <a:solidFill>
                <a:srgbClr val="7030A0"/>
              </a:solidFill>
            </a:endParaRPr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EE2EC801-F0ED-B4C5-2B31-BAAB4635BD9A}"/>
              </a:ext>
            </a:extLst>
          </p:cNvPr>
          <p:cNvSpPr/>
          <p:nvPr/>
        </p:nvSpPr>
        <p:spPr>
          <a:xfrm>
            <a:off x="1653824" y="5064328"/>
            <a:ext cx="1492367" cy="382448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Producción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BE16BD42-02D8-1D63-D78D-EC650E7273EB}"/>
              </a:ext>
            </a:extLst>
          </p:cNvPr>
          <p:cNvSpPr/>
          <p:nvPr/>
        </p:nvSpPr>
        <p:spPr>
          <a:xfrm>
            <a:off x="3676889" y="5034792"/>
            <a:ext cx="1492367" cy="382448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Liquidación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213EBD1E-DE52-E3A6-DAF5-9F9ADF9227AD}"/>
              </a:ext>
            </a:extLst>
          </p:cNvPr>
          <p:cNvSpPr txBox="1"/>
          <p:nvPr/>
        </p:nvSpPr>
        <p:spPr>
          <a:xfrm>
            <a:off x="1326705" y="5597649"/>
            <a:ext cx="2013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C000"/>
                </a:solidFill>
              </a:rPr>
              <a:t>ADG-SHM (</a:t>
            </a:r>
            <a:r>
              <a:rPr lang="es-ES" sz="1400" b="1" dirty="0" err="1">
                <a:solidFill>
                  <a:srgbClr val="FFC000"/>
                </a:solidFill>
              </a:rPr>
              <a:t>Workflow</a:t>
            </a:r>
            <a:r>
              <a:rPr lang="es-ES" sz="1400" b="1" dirty="0">
                <a:solidFill>
                  <a:srgbClr val="FFC000"/>
                </a:solidFill>
              </a:rPr>
              <a:t>)</a:t>
            </a:r>
            <a:endParaRPr lang="es-PE" sz="1400" b="1" dirty="0">
              <a:solidFill>
                <a:srgbClr val="FFC000"/>
              </a:solidFill>
            </a:endParaRPr>
          </a:p>
        </p:txBody>
      </p:sp>
      <p:sp>
        <p:nvSpPr>
          <p:cNvPr id="148" name="Título 147">
            <a:extLst>
              <a:ext uri="{FF2B5EF4-FFF2-40B4-BE49-F238E27FC236}">
                <a16:creationId xmlns:a16="http://schemas.microsoft.com/office/drawing/2014/main" id="{81200F85-89B8-2771-F236-BE046F47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Interfaces</a:t>
            </a:r>
            <a:endParaRPr lang="es-P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6749346-D285-D206-36EB-20ED6BDE6392}"/>
              </a:ext>
            </a:extLst>
          </p:cNvPr>
          <p:cNvSpPr txBox="1"/>
          <p:nvPr/>
        </p:nvSpPr>
        <p:spPr>
          <a:xfrm>
            <a:off x="4603525" y="18406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1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FF8F1E5-C4F2-4F8B-5D1C-118BE9A37835}"/>
              </a:ext>
            </a:extLst>
          </p:cNvPr>
          <p:cNvSpPr txBox="1"/>
          <p:nvPr/>
        </p:nvSpPr>
        <p:spPr>
          <a:xfrm>
            <a:off x="5406003" y="18330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2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97399F-4E3D-F480-DE4A-3F76956993E0}"/>
              </a:ext>
            </a:extLst>
          </p:cNvPr>
          <p:cNvSpPr/>
          <p:nvPr/>
        </p:nvSpPr>
        <p:spPr>
          <a:xfrm>
            <a:off x="1080269" y="938339"/>
            <a:ext cx="938142" cy="812141"/>
          </a:xfrm>
          <a:prstGeom prst="rect">
            <a:avLst/>
          </a:prstGeom>
          <a:solidFill>
            <a:srgbClr val="00D0A3"/>
          </a:solidFill>
          <a:ln>
            <a:solidFill>
              <a:srgbClr val="00D0A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IQ SOFT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57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CCFEC3C-EA5A-C590-200A-43A2B6C32C24}"/>
              </a:ext>
            </a:extLst>
          </p:cNvPr>
          <p:cNvSpPr/>
          <p:nvPr/>
        </p:nvSpPr>
        <p:spPr>
          <a:xfrm>
            <a:off x="664238" y="4505755"/>
            <a:ext cx="11261062" cy="104390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bg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F602F3-D874-D0A5-4EC8-5EFEBAE43B8C}"/>
              </a:ext>
            </a:extLst>
          </p:cNvPr>
          <p:cNvSpPr/>
          <p:nvPr/>
        </p:nvSpPr>
        <p:spPr>
          <a:xfrm>
            <a:off x="862645" y="4654391"/>
            <a:ext cx="1492367" cy="776159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Generación de Orden Pago (OP)</a:t>
            </a:r>
            <a:endParaRPr lang="es-PE" sz="1400" dirty="0">
              <a:solidFill>
                <a:schemeClr val="bg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56C94E-D5B2-0E42-4252-3C1C3D6726E5}"/>
              </a:ext>
            </a:extLst>
          </p:cNvPr>
          <p:cNvSpPr/>
          <p:nvPr/>
        </p:nvSpPr>
        <p:spPr>
          <a:xfrm>
            <a:off x="2718503" y="4654390"/>
            <a:ext cx="1492367" cy="776159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Aprobación </a:t>
            </a:r>
          </a:p>
          <a:p>
            <a:pPr algn="ctr"/>
            <a:r>
              <a:rPr lang="es-ES" sz="1400" dirty="0">
                <a:solidFill>
                  <a:schemeClr val="bg1"/>
                </a:solidFill>
              </a:rPr>
              <a:t>Orden Pago (OP)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F721B1F-8285-EDC1-CFE2-C262D020BDAA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355012" y="5042470"/>
            <a:ext cx="363491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543B10A1-EDC2-FCC0-03D3-AD38D0350778}"/>
              </a:ext>
            </a:extLst>
          </p:cNvPr>
          <p:cNvSpPr/>
          <p:nvPr/>
        </p:nvSpPr>
        <p:spPr>
          <a:xfrm>
            <a:off x="4993830" y="3443560"/>
            <a:ext cx="1492367" cy="776159"/>
          </a:xfrm>
          <a:prstGeom prst="rect">
            <a:avLst/>
          </a:prstGeom>
          <a:solidFill>
            <a:srgbClr val="0AB6F5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Tesorería Pago en SAP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7D37CAD-54BE-6659-DA14-FF0EE5855DCE}"/>
              </a:ext>
            </a:extLst>
          </p:cNvPr>
          <p:cNvSpPr/>
          <p:nvPr/>
        </p:nvSpPr>
        <p:spPr>
          <a:xfrm>
            <a:off x="2056248" y="954311"/>
            <a:ext cx="4140680" cy="786107"/>
          </a:xfrm>
          <a:prstGeom prst="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tx1"/>
                </a:solidFill>
              </a:rPr>
              <a:t>HHMM</a:t>
            </a:r>
            <a:endParaRPr lang="es-PE" sz="1600" dirty="0">
              <a:solidFill>
                <a:schemeClr val="tx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DEB50E6-4ECD-A4AB-016F-3CE37AE67265}"/>
              </a:ext>
            </a:extLst>
          </p:cNvPr>
          <p:cNvSpPr/>
          <p:nvPr/>
        </p:nvSpPr>
        <p:spPr>
          <a:xfrm>
            <a:off x="9386688" y="2950615"/>
            <a:ext cx="603849" cy="569343"/>
          </a:xfrm>
          <a:prstGeom prst="ellipse">
            <a:avLst/>
          </a:prstGeom>
          <a:solidFill>
            <a:srgbClr val="0AB6F5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100" dirty="0">
                <a:solidFill>
                  <a:schemeClr val="tx1"/>
                </a:solidFill>
              </a:rPr>
              <a:t>(6)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E20F21F-59BE-CD5A-3E31-31A3C41AC9C0}"/>
              </a:ext>
            </a:extLst>
          </p:cNvPr>
          <p:cNvSpPr txBox="1"/>
          <p:nvPr/>
        </p:nvSpPr>
        <p:spPr>
          <a:xfrm>
            <a:off x="8507049" y="2003919"/>
            <a:ext cx="11815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</a:rPr>
              <a:t>7) Consulta de Estado de Pago de  Factura IQSOFT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CFAA1C0-3DB9-1E60-CAAA-3925FC1D670C}"/>
              </a:ext>
            </a:extLst>
          </p:cNvPr>
          <p:cNvSpPr/>
          <p:nvPr/>
        </p:nvSpPr>
        <p:spPr>
          <a:xfrm>
            <a:off x="7350392" y="4654390"/>
            <a:ext cx="1492367" cy="776159"/>
          </a:xfrm>
          <a:prstGeom prst="rect">
            <a:avLst/>
          </a:prstGeom>
          <a:solidFill>
            <a:srgbClr val="D1B613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Completar Pago</a:t>
            </a:r>
            <a:endParaRPr lang="es-PE" sz="1400" dirty="0">
              <a:solidFill>
                <a:schemeClr val="bg1"/>
              </a:solidFill>
            </a:endParaRP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910ED9C7-D53D-F4F7-AD26-02FE947DCFB1}"/>
              </a:ext>
            </a:extLst>
          </p:cNvPr>
          <p:cNvCxnSpPr>
            <a:cxnSpLocks/>
            <a:stCxn id="14" idx="3"/>
            <a:endCxn id="12" idx="4"/>
          </p:cNvCxnSpPr>
          <p:nvPr/>
        </p:nvCxnSpPr>
        <p:spPr>
          <a:xfrm flipV="1">
            <a:off x="8842759" y="3519958"/>
            <a:ext cx="845854" cy="1522512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D917077C-F2C2-B27F-5AD4-4E7FE8FE94DB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210870" y="3831640"/>
            <a:ext cx="782960" cy="1210830"/>
          </a:xfrm>
          <a:prstGeom prst="bentConnector3">
            <a:avLst/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60C3148F-C76A-CBAD-9BBE-0C5D60DADE7A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6486197" y="3831640"/>
            <a:ext cx="864195" cy="1210830"/>
          </a:xfrm>
          <a:prstGeom prst="bentConnector3">
            <a:avLst>
              <a:gd name="adj1" fmla="val 50000"/>
            </a:avLst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47EF032-0224-84AF-9B53-F3A922C1AC31}"/>
              </a:ext>
            </a:extLst>
          </p:cNvPr>
          <p:cNvSpPr txBox="1"/>
          <p:nvPr/>
        </p:nvSpPr>
        <p:spPr>
          <a:xfrm>
            <a:off x="664238" y="5579186"/>
            <a:ext cx="20136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FFC000"/>
                </a:solidFill>
              </a:rPr>
              <a:t>ADG-SHM (</a:t>
            </a:r>
            <a:r>
              <a:rPr lang="es-ES" sz="1400" b="1" dirty="0" err="1">
                <a:solidFill>
                  <a:srgbClr val="FFC000"/>
                </a:solidFill>
              </a:rPr>
              <a:t>Workflow</a:t>
            </a:r>
            <a:r>
              <a:rPr lang="es-ES" sz="1400" b="1" dirty="0">
                <a:solidFill>
                  <a:srgbClr val="FFC000"/>
                </a:solidFill>
              </a:rPr>
              <a:t>)</a:t>
            </a:r>
            <a:endParaRPr lang="es-PE" sz="1400" b="1" dirty="0">
              <a:solidFill>
                <a:srgbClr val="FFC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4C27A5C-7635-81A4-30E0-ED794DF4B857}"/>
              </a:ext>
            </a:extLst>
          </p:cNvPr>
          <p:cNvSpPr/>
          <p:nvPr/>
        </p:nvSpPr>
        <p:spPr>
          <a:xfrm>
            <a:off x="10494566" y="1866179"/>
            <a:ext cx="1004012" cy="776159"/>
          </a:xfrm>
          <a:prstGeom prst="rect">
            <a:avLst/>
          </a:prstGeom>
          <a:solidFill>
            <a:srgbClr val="0AB6F5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SAP</a:t>
            </a:r>
            <a:endParaRPr lang="es-PE" dirty="0">
              <a:solidFill>
                <a:schemeClr val="bg1"/>
              </a:solidFill>
            </a:endParaRP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314EEEB3-A0E6-A6D4-F3D0-FA27E0F83DD8}"/>
              </a:ext>
            </a:extLst>
          </p:cNvPr>
          <p:cNvCxnSpPr>
            <a:cxnSpLocks/>
            <a:stCxn id="19" idx="2"/>
            <a:endCxn id="12" idx="6"/>
          </p:cNvCxnSpPr>
          <p:nvPr/>
        </p:nvCxnSpPr>
        <p:spPr>
          <a:xfrm rot="5400000">
            <a:off x="10197081" y="2435795"/>
            <a:ext cx="592949" cy="1006035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2466786-CF71-FE10-0EB7-57ED063B374B}"/>
              </a:ext>
            </a:extLst>
          </p:cNvPr>
          <p:cNvSpPr/>
          <p:nvPr/>
        </p:nvSpPr>
        <p:spPr>
          <a:xfrm>
            <a:off x="9339027" y="810167"/>
            <a:ext cx="1303020" cy="742105"/>
          </a:xfrm>
          <a:prstGeom prst="rect">
            <a:avLst/>
          </a:prstGeom>
          <a:solidFill>
            <a:srgbClr val="00D0A3"/>
          </a:solidFill>
          <a:ln>
            <a:solidFill>
              <a:srgbClr val="00D0A3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Tesorería</a:t>
            </a:r>
          </a:p>
          <a:p>
            <a:pPr algn="ctr"/>
            <a:r>
              <a:rPr lang="es-ES" dirty="0">
                <a:solidFill>
                  <a:schemeClr val="bg1"/>
                </a:solidFill>
              </a:rPr>
              <a:t>IQSOFT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79BC6BCC-8C7A-68C1-62D2-60B0B761DFEA}"/>
              </a:ext>
            </a:extLst>
          </p:cNvPr>
          <p:cNvSpPr/>
          <p:nvPr/>
        </p:nvSpPr>
        <p:spPr>
          <a:xfrm>
            <a:off x="7845584" y="2103968"/>
            <a:ext cx="603849" cy="56934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(7)</a:t>
            </a:r>
            <a:endParaRPr lang="es-PE" sz="1200" dirty="0">
              <a:solidFill>
                <a:schemeClr val="tx1"/>
              </a:solidFill>
            </a:endParaRP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C1D41813-A209-84B6-8742-9F2499C0EFD9}"/>
              </a:ext>
            </a:extLst>
          </p:cNvPr>
          <p:cNvCxnSpPr>
            <a:cxnSpLocks/>
            <a:endCxn id="22" idx="4"/>
          </p:cNvCxnSpPr>
          <p:nvPr/>
        </p:nvCxnSpPr>
        <p:spPr>
          <a:xfrm rot="16200000" flipV="1">
            <a:off x="7372790" y="3448031"/>
            <a:ext cx="1981079" cy="431639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58493CCF-F31F-EF7A-F3FF-BCB33B8FF4C5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8793175" y="906606"/>
            <a:ext cx="551696" cy="1843028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BF09B4D1-D629-9190-8048-A0ED7CFA889E}"/>
              </a:ext>
            </a:extLst>
          </p:cNvPr>
          <p:cNvSpPr/>
          <p:nvPr/>
        </p:nvSpPr>
        <p:spPr>
          <a:xfrm>
            <a:off x="7005970" y="2730706"/>
            <a:ext cx="646390" cy="583551"/>
          </a:xfrm>
          <a:prstGeom prst="flowChartConnector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s-ES" sz="1200" dirty="0">
                <a:solidFill>
                  <a:schemeClr val="tx1"/>
                </a:solidFill>
              </a:rPr>
              <a:t>(8)</a:t>
            </a:r>
            <a:endParaRPr lang="es-PE" sz="1200" dirty="0">
              <a:solidFill>
                <a:schemeClr val="tx1"/>
              </a:solidFill>
            </a:endParaRP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775486C1-CF16-B110-E718-1B46115E36C2}"/>
              </a:ext>
            </a:extLst>
          </p:cNvPr>
          <p:cNvCxnSpPr>
            <a:cxnSpLocks/>
            <a:stCxn id="14" idx="0"/>
            <a:endCxn id="25" idx="4"/>
          </p:cNvCxnSpPr>
          <p:nvPr/>
        </p:nvCxnSpPr>
        <p:spPr>
          <a:xfrm rot="16200000" flipV="1">
            <a:off x="7042805" y="3600618"/>
            <a:ext cx="1340133" cy="767411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A78439E-E1C2-5972-2A9F-9EED57E75BA9}"/>
              </a:ext>
            </a:extLst>
          </p:cNvPr>
          <p:cNvSpPr txBox="1"/>
          <p:nvPr/>
        </p:nvSpPr>
        <p:spPr>
          <a:xfrm>
            <a:off x="6198365" y="2158006"/>
            <a:ext cx="9394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solidFill>
                  <a:schemeClr val="bg1"/>
                </a:solidFill>
              </a:rPr>
              <a:t>8) Actualizar Estado de Pago de  Factura</a:t>
            </a:r>
            <a:endParaRPr lang="es-PE" sz="1050" dirty="0">
              <a:solidFill>
                <a:schemeClr val="bg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7F7E19-284F-4E72-DC34-295F58880B9C}"/>
              </a:ext>
            </a:extLst>
          </p:cNvPr>
          <p:cNvSpPr txBox="1"/>
          <p:nvPr/>
        </p:nvSpPr>
        <p:spPr>
          <a:xfrm>
            <a:off x="9915312" y="3412542"/>
            <a:ext cx="1089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bg1"/>
                </a:solidFill>
              </a:rPr>
              <a:t>6) Consulta de Estado de Pago de  Factura SAP</a:t>
            </a:r>
            <a:endParaRPr lang="es-PE" sz="1100" dirty="0">
              <a:solidFill>
                <a:schemeClr val="bg1"/>
              </a:solidFill>
            </a:endParaRPr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913CAD7-1DB5-C49A-AA16-0D282AD753FD}"/>
              </a:ext>
            </a:extLst>
          </p:cNvPr>
          <p:cNvCxnSpPr>
            <a:cxnSpLocks/>
            <a:stCxn id="25" idx="2"/>
            <a:endCxn id="9" idx="2"/>
          </p:cNvCxnSpPr>
          <p:nvPr/>
        </p:nvCxnSpPr>
        <p:spPr>
          <a:xfrm rot="10800000">
            <a:off x="4126588" y="1740418"/>
            <a:ext cx="2879382" cy="12820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17BBD8BD-B063-2D58-67D6-47A7DCEF7DA5}"/>
              </a:ext>
            </a:extLst>
          </p:cNvPr>
          <p:cNvSpPr txBox="1"/>
          <p:nvPr/>
        </p:nvSpPr>
        <p:spPr>
          <a:xfrm>
            <a:off x="2051981" y="1788674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solidFill>
                  <a:srgbClr val="7030A0"/>
                </a:solidFill>
              </a:rPr>
              <a:t>HHMM</a:t>
            </a:r>
            <a:endParaRPr lang="es-PE" sz="1400" dirty="0">
              <a:solidFill>
                <a:srgbClr val="7030A0"/>
              </a:solidFill>
            </a:endParaRPr>
          </a:p>
        </p:txBody>
      </p:sp>
      <p:sp>
        <p:nvSpPr>
          <p:cNvPr id="75" name="Título 74">
            <a:extLst>
              <a:ext uri="{FF2B5EF4-FFF2-40B4-BE49-F238E27FC236}">
                <a16:creationId xmlns:a16="http://schemas.microsoft.com/office/drawing/2014/main" id="{F16A9EE2-EA47-5AAA-5718-42B2C1A6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Interfaces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087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2">
            <a:extLst>
              <a:ext uri="{FF2B5EF4-FFF2-40B4-BE49-F238E27FC236}">
                <a16:creationId xmlns:a16="http://schemas.microsoft.com/office/drawing/2014/main" id="{D42CAB41-0D85-3856-968D-5D8B61BBD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271468"/>
              </p:ext>
            </p:extLst>
          </p:nvPr>
        </p:nvGraphicFramePr>
        <p:xfrm>
          <a:off x="286734" y="1399307"/>
          <a:ext cx="11618532" cy="32805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4148019743"/>
                    </a:ext>
                  </a:extLst>
                </a:gridCol>
                <a:gridCol w="5163090">
                  <a:extLst>
                    <a:ext uri="{9D8B030D-6E8A-4147-A177-3AD203B41FA5}">
                      <a16:colId xmlns:a16="http://schemas.microsoft.com/office/drawing/2014/main" val="1753881713"/>
                    </a:ext>
                  </a:extLst>
                </a:gridCol>
                <a:gridCol w="1150540">
                  <a:extLst>
                    <a:ext uri="{9D8B030D-6E8A-4147-A177-3AD203B41FA5}">
                      <a16:colId xmlns:a16="http://schemas.microsoft.com/office/drawing/2014/main" val="2902060125"/>
                    </a:ext>
                  </a:extLst>
                </a:gridCol>
                <a:gridCol w="2681832">
                  <a:extLst>
                    <a:ext uri="{9D8B030D-6E8A-4147-A177-3AD203B41FA5}">
                      <a16:colId xmlns:a16="http://schemas.microsoft.com/office/drawing/2014/main" val="2881737545"/>
                    </a:ext>
                  </a:extLst>
                </a:gridCol>
                <a:gridCol w="2147582">
                  <a:extLst>
                    <a:ext uri="{9D8B030D-6E8A-4147-A177-3AD203B41FA5}">
                      <a16:colId xmlns:a16="http://schemas.microsoft.com/office/drawing/2014/main" val="3177053349"/>
                    </a:ext>
                  </a:extLst>
                </a:gridCol>
              </a:tblGrid>
              <a:tr h="33651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Quien lo invoca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/>
                        <a:t>Responsable de Desarrollo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32520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Envío de datos de 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 Clínico 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HHMM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ADG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971517"/>
                  </a:ext>
                </a:extLst>
              </a:tr>
              <a:tr h="33651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Datos Maestros: Tipos de producción, Rubro, Tipo de Médicos, Entidad Medica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Sistemas San Pablo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761526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bg1"/>
                          </a:solidFill>
                        </a:rPr>
                        <a:t>Envío de Facturas en el Sistema HHMM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Sistemas San Pablo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027474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Envío de datos de Liquidación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ADG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557897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Consulta de bancos, cuenta bancaria por entidad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SAP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503063"/>
                  </a:ext>
                </a:extLst>
              </a:tr>
              <a:tr h="194823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Consulta de Estado de Pago de  Factura SAP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230575"/>
                  </a:ext>
                </a:extLst>
              </a:tr>
              <a:tr h="24145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Consulta de Estado de Pago de  Factura IQSOFT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GET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IQSOFT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532327"/>
                  </a:ext>
                </a:extLst>
              </a:tr>
              <a:tr h="415417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Actualizar Estado de Pago de  Factura HHMM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POST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ADG-SHM</a:t>
                      </a:r>
                      <a:endParaRPr lang="es-PE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dirty="0">
                          <a:solidFill>
                            <a:schemeClr val="bg1"/>
                          </a:solidFill>
                        </a:rPr>
                        <a:t>Sistemas San Pablo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770394"/>
                  </a:ext>
                </a:extLst>
              </a:tr>
            </a:tbl>
          </a:graphicData>
        </a:graphic>
      </p:graphicFrame>
      <p:sp>
        <p:nvSpPr>
          <p:cNvPr id="7" name="Título 6">
            <a:extLst>
              <a:ext uri="{FF2B5EF4-FFF2-40B4-BE49-F238E27FC236}">
                <a16:creationId xmlns:a16="http://schemas.microsoft.com/office/drawing/2014/main" id="{B6764E4C-F66F-EFAE-4CB7-CBA28858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Lista de </a:t>
            </a:r>
            <a:r>
              <a:rPr lang="es-ES" dirty="0" err="1"/>
              <a:t>APIs</a:t>
            </a:r>
            <a:r>
              <a:rPr lang="es-ES" dirty="0"/>
              <a:t> de Integración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0566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rter Template_Heritage Month Presentation" id="{910467CA-E581-43CB-A3F9-242953556B2E}" vid="{325629C9-8C54-4982-A5E7-91DBF3E63BF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3ACE82-BD1C-4CC4-B9C6-7097502B70B7}">
  <ds:schemaRefs>
    <ds:schemaRef ds:uri="http://www.w3.org/XML/1998/namespace"/>
    <ds:schemaRef ds:uri="http://purl.org/dc/dcmitype/"/>
    <ds:schemaRef ds:uri="230e9df3-be65-4c73-a93b-d1236ebd677e"/>
    <ds:schemaRef ds:uri="http://schemas.microsoft.com/office/2006/documentManagement/types"/>
    <ds:schemaRef ds:uri="http://purl.org/dc/elements/1.1/"/>
    <ds:schemaRef ds:uri="16c05727-aa75-4e4a-9b5f-8a80a1165891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704BC66-A771-492B-8E79-E3C5E33B7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0AD4D6-2712-4EC3-A727-A5652AD67F9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Starter Template_Heritage Month Presentation</Template>
  <TotalTime>0</TotalTime>
  <Words>284</Words>
  <Application>Microsoft Office PowerPoint</Application>
  <PresentationFormat>Panorámica</PresentationFormat>
  <Paragraphs>102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Sistema de Honorarios Médicos Integraciones</vt:lpstr>
      <vt:lpstr>Interfaces</vt:lpstr>
      <vt:lpstr>Interfaces</vt:lpstr>
      <vt:lpstr>Lista de APIs de Integración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2021-02-18T07:10:18Z</dcterms:created>
  <dcterms:modified xsi:type="dcterms:W3CDTF">2026-02-11T04:13:39Z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